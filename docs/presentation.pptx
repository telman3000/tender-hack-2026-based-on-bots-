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Поставщик описывает товар как умеет, одной строкой — например, «Стол письменный 1200 на 700 на 750 миллиметров». Для СТЕ нужны характеристики по КТРУ. Код КТРУ — это группа товаров, а не конкретный товар: подобрать правильную группу и заполнить её обязательные характеристики сложно. Типичные ошибки: опечатки, неверные единицы, значения вне допустимого списка, пропущенные обязательные характеристики. Итог — карточки отклоняются, позиции дублируются, сравнивать цены тяжело.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Пользователь вводит описание — сервис выделяет характеристики и сразу показывает их в редактируемой таблице. У каждой характеристики бейдж источника: КТРУ, Портал или Новая. Подсказки объясняют, что не так и что ожидается, и дают варианты исправления в один клик; недостающие обязательные характеристики добавляются кнопкой. Воронка показывает, сколько кодов КТРУ осталось после каждого шага и почему. Любая правка пересчитывает результат автоматически, задержка ввода около 600 мс.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дорожки: Пользователь, Сервис, Данные. Пользователь вводит описание в свободной форме; сервис разбирает текст (parser), унифицирует названия и единицы (unifier), ищет в индексе КТРУ и портала (SQLite), сужает коды и проверяет значения (matcher, engine) и формирует ответ: подсказки, воронку, кандидатов. Цикл «правка → пересчёт» повторяется, пока пользователь не подтвердит результат. Исходник — docs/process.bpmn, открывается в Camunda Modeler или bpmn.io.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Веб-интерфейс на HTML/JS отправляет JSON в FastAPI: POST /api/analyze. Дальше конвейер: parser — текст в пары «характеристика — значение — единица»; unifier — синонимы и нормализация; matcher — поиск кандидатов КТРУ по названию и ОКПД2; engine — сужение кодов, проверка значений, подсказки. SQLite-индекс собирается заранее скриптом scripts/build_index.py из XML КТРУ и выгрузки XLSX портала. Запрос обслуживается локально, без внешних сервисов.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Python + FastAPI — быстрая разработка, Pydantic проверяет контракт, документация API генерируется сама. SQLite — один файл, без отдельного сервера, быстрый поиск по справочнику, легко упаковать в Docker. Почему без нейросетей: скорость — медиана около 50 мс; каждое решение можно объяснить; работает без интернета; ничего не выдумывает — всё из справочника КТРУ и данных портала. ТЗ запрещает облачные LLM API. Чистый HTML/JS — нет сборки, легко встроить в портал.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Цифры на текущей версии: финальный прогон, эталонные ответы зафиксированы до прогона, два прогона совпали. Основной набор, 45 кейсов: верный код на первом месте 44/45 — 98%, в тройке — 45/45, статус верный 45/45. Отложенный набор — 45 новых позиций, под которые код не подстраивался: на первом месте 43/45 — 96%, в тройке 44/45 — 98%, статус верный 43/45. Код первым по категориям: мебель 15/15, инструменты 15/15, одежда 13/15; статус по категориям: мебель 15/15, инструменты 14/15, одежда 14/15. Ложных тревог на чистых кейсах — 1/42, и это H31 — на деле реальная ошибка карточки: лобзик весом 2,1 г. Внесённые ошибки пойманы 30/30: единицы 8/8, нереалистичные числа 8/8, несуществующие значения 7/7, опечатки 7/7 — но набор известен разработчикам — оценка оптимистичная. Скорость: медиана ~50 мс, p95 ~160–190 мс по замеру eval-скрипта; 50 параллельных запросов — без ошибок. Справочник — 3391 позиция КТРУ, весь архив; чистая сборка индекса — ~100 с; автотесты pytest 62/62. Демо: мебель, одежда, инструменты — от свободного текста до кода КТРУ; показываем таблицу с бейджами и исправление в один клик; на выходе группа из 2–3 вариаций — это нормально, различия задают обязательные характеристики. Если спросят об ограничениях: путаем близкие товары (брюки, резиновые сапоги); 30/30 по ошибкам — оптимистичная оценка; одежда — 13/15 на отложенном наборе.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Роли: координация и интеграция через PR; ядро КТРУ — разбор, унификация, сужение кодов; интерфейс, документация и защита — UI в стиле портала, BPMN, презентация; тестирование и качество — тест-кейсы и метрики. Перед защитой вписать имена вместо плейсхолдеров.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7447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3" name="Shape 1"/>
          <p:cNvSpPr/>
          <p:nvPr/>
        </p:nvSpPr>
        <p:spPr>
          <a:xfrm>
            <a:off x="384505" y="33412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4" name="Shape 2"/>
          <p:cNvSpPr/>
          <p:nvPr/>
        </p:nvSpPr>
        <p:spPr>
          <a:xfrm>
            <a:off x="441655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5" name="Shape 3"/>
          <p:cNvSpPr/>
          <p:nvPr/>
        </p:nvSpPr>
        <p:spPr>
          <a:xfrm>
            <a:off x="327447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6" name="Shape 4"/>
          <p:cNvSpPr/>
          <p:nvPr/>
        </p:nvSpPr>
        <p:spPr>
          <a:xfrm>
            <a:off x="441655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59247" y="26517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Tender Hack 2026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65176"/>
            <a:ext cx="51892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Помощник заполнения характеристик СТЕ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7447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948184" y="6495349"/>
            <a:ext cx="850941" cy="0"/>
          </a:xfrm>
          <a:prstGeom prst="line">
            <a:avLst/>
          </a:prstGeom>
          <a:noFill/>
          <a:ln w="12700">
            <a:solidFill>
              <a:srgbClr val="264B8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022147" y="6421465"/>
            <a:ext cx="147676" cy="147676"/>
          </a:xfrm>
          <a:prstGeom prst="ellipse">
            <a:avLst/>
          </a:prstGeom>
          <a:ln w="12700">
            <a:solidFill>
              <a:srgbClr val="264B8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994941" y="6391656"/>
            <a:ext cx="1869674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/ 07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1132302" y="1325880"/>
            <a:ext cx="56692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4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Помощник</a:t>
            </a:r>
            <a:endParaRPr lang="en-US" sz="4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44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заполнения</a:t>
            </a:r>
            <a:endParaRPr lang="en-US" sz="4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44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характеристик СТЕ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1132302" y="388620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400" b="1" dirty="0">
                <a:solidFill>
                  <a:srgbClr val="1E88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1874520" y="3886200"/>
            <a:ext cx="4206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Поставщик описывает товар свободным текстом, а для СТЕ нужны характеристики по КТРУ — подобрать группу и заполнить обязательные поля сложно.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132302" y="512064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F2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Итог: карточки отклоняются, позиции дублируются, сравнивать цены тяжело.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903720" y="1417320"/>
            <a:ext cx="4526280" cy="4343400"/>
          </a:xfrm>
          <a:prstGeom prst="roundRect">
            <a:avLst>
              <a:gd name="adj" fmla="val 8000"/>
            </a:avLst>
          </a:prstGeom>
          <a:solidFill>
            <a:srgbClr val="F1F3F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178040" y="162763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Типичные ошибки в карточке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178040" y="2103120"/>
            <a:ext cx="1920240" cy="15727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315200" y="24231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00" b="1" dirty="0">
                <a:solidFill>
                  <a:srgbClr val="1E88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Опечатки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7315200" y="288036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 названиях и значениях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235440" y="2103120"/>
            <a:ext cx="1920240" cy="15727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372600" y="24231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00" b="1" dirty="0">
                <a:solidFill>
                  <a:srgbClr val="1E88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Единицы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9372600" y="288036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неверные или несовместимые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178040" y="3858768"/>
            <a:ext cx="1920240" cy="15727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00" y="417880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00" b="1" dirty="0">
                <a:solidFill>
                  <a:srgbClr val="1E88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Вне списка</a:t>
            </a:r>
            <a:endParaRPr lang="en-US" sz="1900" dirty="0"/>
          </a:p>
        </p:txBody>
      </p:sp>
      <p:sp>
        <p:nvSpPr>
          <p:cNvPr id="27" name="Text 25"/>
          <p:cNvSpPr txBox="1"/>
          <p:nvPr/>
        </p:nvSpPr>
        <p:spPr>
          <a:xfrm>
            <a:off x="7315200" y="4636008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значения не из допустимых КТРУ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9235440" y="3858768"/>
            <a:ext cx="1920240" cy="15727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372600" y="417880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00" b="1" dirty="0">
                <a:solidFill>
                  <a:srgbClr val="1E88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Пропуски</a:t>
            </a:r>
            <a:endParaRPr lang="en-US" sz="1900" dirty="0"/>
          </a:p>
        </p:txBody>
      </p:sp>
      <p:sp>
        <p:nvSpPr>
          <p:cNvPr id="30" name="Text 28"/>
          <p:cNvSpPr txBox="1"/>
          <p:nvPr/>
        </p:nvSpPr>
        <p:spPr>
          <a:xfrm>
            <a:off x="9372600" y="4636008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обязательных характеристик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7447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3" name="Shape 1"/>
          <p:cNvSpPr/>
          <p:nvPr/>
        </p:nvSpPr>
        <p:spPr>
          <a:xfrm>
            <a:off x="384505" y="33412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4" name="Shape 2"/>
          <p:cNvSpPr/>
          <p:nvPr/>
        </p:nvSpPr>
        <p:spPr>
          <a:xfrm>
            <a:off x="441655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5" name="Shape 3"/>
          <p:cNvSpPr/>
          <p:nvPr/>
        </p:nvSpPr>
        <p:spPr>
          <a:xfrm>
            <a:off x="327447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6" name="Shape 4"/>
          <p:cNvSpPr/>
          <p:nvPr/>
        </p:nvSpPr>
        <p:spPr>
          <a:xfrm>
            <a:off x="441655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59247" y="26517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Tender Hack 2026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65176"/>
            <a:ext cx="51892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Помощник заполнения характеристик СТЕ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7447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864523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48184" y="6495349"/>
            <a:ext cx="850941" cy="0"/>
          </a:xfrm>
          <a:prstGeom prst="line">
            <a:avLst/>
          </a:prstGeom>
          <a:noFill/>
          <a:ln w="12700">
            <a:solidFill>
              <a:srgbClr val="264B8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22147" y="6421465"/>
            <a:ext cx="147676" cy="147676"/>
          </a:xfrm>
          <a:prstGeom prst="ellipse">
            <a:avLst/>
          </a:prstGeom>
          <a:ln w="12700">
            <a:solidFill>
              <a:srgbClr val="264B8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994941" y="6391656"/>
            <a:ext cx="1869674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/ 07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1325880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Из свободного текста — в проверенную таблицу</a:t>
            </a:r>
            <a:endParaRPr lang="en-US" sz="28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274320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Пользователь вводит описание — сервис выделяет характеристики и сразу показывает их в редактируемой таблице.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1188720" y="3977640"/>
            <a:ext cx="3840480" cy="1143000"/>
          </a:xfrm>
          <a:prstGeom prst="roundRect">
            <a:avLst>
              <a:gd name="adj" fmla="val 12000"/>
            </a:avLst>
          </a:prstGeom>
          <a:solidFill>
            <a:srgbClr val="F1F3F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371600" y="411480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E88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Пример ввода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438912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1F2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«Стол письменный 1200 на 700 на 750 миллиметров»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641848" y="1325880"/>
            <a:ext cx="5120640" cy="0"/>
          </a:xfrm>
          <a:prstGeom prst="line">
            <a:avLst/>
          </a:prstGeom>
          <a:noFill/>
          <a:ln w="12700">
            <a:solidFill>
              <a:srgbClr val="5AA9F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623560" y="150876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E88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6355080" y="146304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F2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Бейдж источника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355080" y="1783080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У каждой характеристики: КТРУ, Портал или Новая.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641848" y="2441448"/>
            <a:ext cx="5120640" cy="0"/>
          </a:xfrm>
          <a:prstGeom prst="line">
            <a:avLst/>
          </a:prstGeom>
          <a:noFill/>
          <a:ln w="12700">
            <a:solidFill>
              <a:srgbClr val="5AA9F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23560" y="262432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E88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3000" dirty="0"/>
          </a:p>
        </p:txBody>
      </p:sp>
      <p:sp>
        <p:nvSpPr>
          <p:cNvPr id="25" name="Text 23"/>
          <p:cNvSpPr txBox="1"/>
          <p:nvPr/>
        </p:nvSpPr>
        <p:spPr>
          <a:xfrm>
            <a:off x="6355080" y="257860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F2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Подсказки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6355080" y="2898648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не так и что ожидается; исправление в один клик, недостающие обязательные — кнопкой.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641848" y="3557016"/>
            <a:ext cx="5120640" cy="0"/>
          </a:xfrm>
          <a:prstGeom prst="line">
            <a:avLst/>
          </a:prstGeom>
          <a:noFill/>
          <a:ln w="12700">
            <a:solidFill>
              <a:srgbClr val="5AA9F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623560" y="3739896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E88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3000" dirty="0"/>
          </a:p>
        </p:txBody>
      </p:sp>
      <p:sp>
        <p:nvSpPr>
          <p:cNvPr id="29" name="Text 27"/>
          <p:cNvSpPr txBox="1"/>
          <p:nvPr/>
        </p:nvSpPr>
        <p:spPr>
          <a:xfrm>
            <a:off x="6355080" y="3694176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F2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Воронка сужения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6355080" y="4014216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Сколько кодов КТРУ осталось после каждого шага и почему.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641848" y="4672584"/>
            <a:ext cx="5120640" cy="0"/>
          </a:xfrm>
          <a:prstGeom prst="line">
            <a:avLst/>
          </a:prstGeom>
          <a:noFill/>
          <a:ln w="12700">
            <a:solidFill>
              <a:srgbClr val="5AA9F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623560" y="485546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E88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3000" dirty="0"/>
          </a:p>
        </p:txBody>
      </p:sp>
      <p:sp>
        <p:nvSpPr>
          <p:cNvPr id="33" name="Text 31"/>
          <p:cNvSpPr txBox="1"/>
          <p:nvPr/>
        </p:nvSpPr>
        <p:spPr>
          <a:xfrm>
            <a:off x="6355080" y="4809744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F2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Автопересчёт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6355080" y="5129784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Любая правка пересчитывает результат (≈600 мс задержки ввода).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641848" y="5788152"/>
            <a:ext cx="5120640" cy="0"/>
          </a:xfrm>
          <a:prstGeom prst="line">
            <a:avLst/>
          </a:prstGeom>
          <a:noFill/>
          <a:ln w="12700">
            <a:solidFill>
              <a:srgbClr val="5AA9F0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7447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3" name="Shape 1"/>
          <p:cNvSpPr/>
          <p:nvPr/>
        </p:nvSpPr>
        <p:spPr>
          <a:xfrm>
            <a:off x="384505" y="33412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4" name="Shape 2"/>
          <p:cNvSpPr/>
          <p:nvPr/>
        </p:nvSpPr>
        <p:spPr>
          <a:xfrm>
            <a:off x="441655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5" name="Shape 3"/>
          <p:cNvSpPr/>
          <p:nvPr/>
        </p:nvSpPr>
        <p:spPr>
          <a:xfrm>
            <a:off x="327447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6" name="Shape 4"/>
          <p:cNvSpPr/>
          <p:nvPr/>
        </p:nvSpPr>
        <p:spPr>
          <a:xfrm>
            <a:off x="441655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59247" y="26517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Tender Hack 2026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65176"/>
            <a:ext cx="51892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Помощник заполнения характеристик СТЕ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7447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864523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48184" y="6495349"/>
            <a:ext cx="850941" cy="0"/>
          </a:xfrm>
          <a:prstGeom prst="line">
            <a:avLst/>
          </a:prstGeom>
          <a:noFill/>
          <a:ln w="12700">
            <a:solidFill>
              <a:srgbClr val="264B8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22147" y="6421465"/>
            <a:ext cx="147676" cy="147676"/>
          </a:xfrm>
          <a:prstGeom prst="ellipse">
            <a:avLst/>
          </a:prstGeom>
          <a:ln w="12700">
            <a:solidFill>
              <a:srgbClr val="264B8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994941" y="6391656"/>
            <a:ext cx="1869674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/ 07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105156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Процесс: «правка → пересчёт» до подтверждения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777240" y="1783080"/>
            <a:ext cx="10652760" cy="3977640"/>
          </a:xfrm>
          <a:prstGeom prst="roundRect">
            <a:avLst>
              <a:gd name="adj" fmla="val 5000"/>
            </a:avLst>
          </a:prstGeom>
          <a:solidFill>
            <a:srgbClr val="F1F3F6"/>
          </a:solidFill>
          <a:ln/>
        </p:spPr>
      </p:sp>
      <p:pic>
        <p:nvPicPr>
          <p:cNvPr id="16" name="Image 0" descr="/workspace/slides/tenderhack-vpYX9v/src/proc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87944"/>
            <a:ext cx="10287000" cy="3767913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914400" y="589788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Дорожки: Пользователь / Сервис / Данные. Исходник: docs/process.bpmn (Camunda Modeler / bpmn.io).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7447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3" name="Shape 1"/>
          <p:cNvSpPr/>
          <p:nvPr/>
        </p:nvSpPr>
        <p:spPr>
          <a:xfrm>
            <a:off x="384505" y="33412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4" name="Shape 2"/>
          <p:cNvSpPr/>
          <p:nvPr/>
        </p:nvSpPr>
        <p:spPr>
          <a:xfrm>
            <a:off x="441655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5" name="Shape 3"/>
          <p:cNvSpPr/>
          <p:nvPr/>
        </p:nvSpPr>
        <p:spPr>
          <a:xfrm>
            <a:off x="327447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6" name="Shape 4"/>
          <p:cNvSpPr/>
          <p:nvPr/>
        </p:nvSpPr>
        <p:spPr>
          <a:xfrm>
            <a:off x="441655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59247" y="26517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Tender Hack 2026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65176"/>
            <a:ext cx="51892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Помощник заполнения характеристик СТЕ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7447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864523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48184" y="6495349"/>
            <a:ext cx="850941" cy="0"/>
          </a:xfrm>
          <a:prstGeom prst="line">
            <a:avLst/>
          </a:prstGeom>
          <a:noFill/>
          <a:ln w="12700">
            <a:solidFill>
              <a:srgbClr val="264B8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22147" y="6421465"/>
            <a:ext cx="147676" cy="147676"/>
          </a:xfrm>
          <a:prstGeom prst="ellipse">
            <a:avLst/>
          </a:prstGeom>
          <a:ln w="12700">
            <a:solidFill>
              <a:srgbClr val="264B8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994941" y="6391656"/>
            <a:ext cx="1869674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/ 07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1280160"/>
            <a:ext cx="3200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Архитектура: конвейер модулей и заранее собранный индекс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914400" y="3246120"/>
            <a:ext cx="31546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5000"/>
              </a:lnSpc>
              <a:spcBef>
                <a:spcPts val="600"/>
              </a:spcBef>
              <a:buSzPct val="100%"/>
              <a:buChar char="•"/>
            </a:pPr>
            <a:r>
              <a:rPr lang="en-US" sz="13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Веб-интерфейс (HTML/JS) → FastAPI → parser → unifier → matcher → engine</a:t>
            </a:r>
            <a:endParaRPr lang="en-US" sz="1300" dirty="0"/>
          </a:p>
          <a:p>
            <a:pPr marL="203200" indent="-203200">
              <a:lnSpc>
                <a:spcPct val="115000"/>
              </a:lnSpc>
              <a:spcBef>
                <a:spcPts val="600"/>
              </a:spcBef>
              <a:buSzPct val="100%"/>
              <a:buChar char="•"/>
            </a:pPr>
            <a:r>
              <a:rPr lang="en-US" sz="13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SQLite-индекс собирается заранее скриптом build_index.py из XML КТРУ и выгрузки XLSX портала</a:t>
            </a:r>
            <a:endParaRPr lang="en-US" sz="1300" dirty="0"/>
          </a:p>
          <a:p>
            <a:pPr marL="203200" indent="-203200">
              <a:lnSpc>
                <a:spcPct val="115000"/>
              </a:lnSpc>
              <a:spcBef>
                <a:spcPts val="600"/>
              </a:spcBef>
              <a:buSzPct val="100%"/>
              <a:buChar char="•"/>
            </a:pPr>
            <a:r>
              <a:rPr lang="en-US" sz="13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Запрос обслуживается локально, без внешних сервисов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297680" y="1463040"/>
            <a:ext cx="7269480" cy="4114800"/>
          </a:xfrm>
          <a:prstGeom prst="roundRect">
            <a:avLst>
              <a:gd name="adj" fmla="val 5000"/>
            </a:avLst>
          </a:prstGeom>
          <a:solidFill>
            <a:srgbClr val="F1F3F6"/>
          </a:solidFill>
          <a:ln/>
        </p:spPr>
      </p:sp>
      <p:pic>
        <p:nvPicPr>
          <p:cNvPr id="17" name="Image 0" descr="/workspace/slides/tenderhack-vpYX9v/src/compone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798554"/>
            <a:ext cx="6995160" cy="344377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7447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3" name="Shape 1"/>
          <p:cNvSpPr/>
          <p:nvPr/>
        </p:nvSpPr>
        <p:spPr>
          <a:xfrm>
            <a:off x="384505" y="33412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4" name="Shape 2"/>
          <p:cNvSpPr/>
          <p:nvPr/>
        </p:nvSpPr>
        <p:spPr>
          <a:xfrm>
            <a:off x="441655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5" name="Shape 3"/>
          <p:cNvSpPr/>
          <p:nvPr/>
        </p:nvSpPr>
        <p:spPr>
          <a:xfrm>
            <a:off x="327447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6" name="Shape 4"/>
          <p:cNvSpPr/>
          <p:nvPr/>
        </p:nvSpPr>
        <p:spPr>
          <a:xfrm>
            <a:off x="441655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59247" y="26517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Tender Hack 2026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65176"/>
            <a:ext cx="51892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Помощник заполнения характеристик СТЕ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7447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864523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48184" y="6495349"/>
            <a:ext cx="850941" cy="0"/>
          </a:xfrm>
          <a:prstGeom prst="line">
            <a:avLst/>
          </a:prstGeom>
          <a:noFill/>
          <a:ln w="12700">
            <a:solidFill>
              <a:srgbClr val="264B8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22147" y="6421465"/>
            <a:ext cx="147676" cy="147676"/>
          </a:xfrm>
          <a:prstGeom prst="ellipse">
            <a:avLst/>
          </a:prstGeom>
          <a:ln w="12700">
            <a:solidFill>
              <a:srgbClr val="264B8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994941" y="6391656"/>
            <a:ext cx="1869674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 / 07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1097280"/>
            <a:ext cx="9418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32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Технологии: почему без LLM</a:t>
            </a:r>
            <a:endParaRPr lang="en-US" sz="3200" dirty="0"/>
          </a:p>
        </p:txBody>
      </p:sp>
      <p:sp>
        <p:nvSpPr>
          <p:cNvPr id="15" name="Shape 13"/>
          <p:cNvSpPr/>
          <p:nvPr/>
        </p:nvSpPr>
        <p:spPr>
          <a:xfrm flipH="1">
            <a:off x="1143000" y="2240280"/>
            <a:ext cx="2377440" cy="2743200"/>
          </a:xfrm>
          <a:prstGeom prst="round2DiagRect">
            <a:avLst/>
          </a:prstGeom>
          <a:solidFill>
            <a:srgbClr val="1E88E5"/>
          </a:solidFill>
          <a:ln/>
        </p:spPr>
      </p:sp>
      <p:sp>
        <p:nvSpPr>
          <p:cNvPr id="16" name="Shape 14"/>
          <p:cNvSpPr/>
          <p:nvPr/>
        </p:nvSpPr>
        <p:spPr>
          <a:xfrm>
            <a:off x="960120" y="2029968"/>
            <a:ext cx="73152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E88E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60120" y="202996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88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Py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292608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Python + FastAPI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3310128"/>
            <a:ext cx="19659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Быстрая разработка, контракт через Pydantic, автодокументация API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 flipH="1">
            <a:off x="3749040" y="2240280"/>
            <a:ext cx="2377440" cy="2743200"/>
          </a:xfrm>
          <a:prstGeom prst="round2DiagRect">
            <a:avLst/>
          </a:prstGeom>
          <a:solidFill>
            <a:srgbClr val="1E88E5"/>
          </a:solidFill>
          <a:ln/>
        </p:spPr>
      </p:sp>
      <p:sp>
        <p:nvSpPr>
          <p:cNvPr id="21" name="Shape 19"/>
          <p:cNvSpPr/>
          <p:nvPr/>
        </p:nvSpPr>
        <p:spPr>
          <a:xfrm>
            <a:off x="3566160" y="2029968"/>
            <a:ext cx="73152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E88E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566160" y="202996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88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DB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3977640" y="292608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SQLite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3977640" y="3310128"/>
            <a:ext cx="19659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Один файл без отдельного сервера, быстрый поиск по справочнику, легко в Docker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 flipH="1">
            <a:off x="6355080" y="2240280"/>
            <a:ext cx="2377440" cy="2743200"/>
          </a:xfrm>
          <a:prstGeom prst="round2DiagRect">
            <a:avLst/>
          </a:prstGeom>
          <a:solidFill>
            <a:srgbClr val="264B82"/>
          </a:solidFill>
          <a:ln/>
        </p:spPr>
      </p:sp>
      <p:sp>
        <p:nvSpPr>
          <p:cNvPr id="26" name="Shape 24"/>
          <p:cNvSpPr/>
          <p:nvPr/>
        </p:nvSpPr>
        <p:spPr>
          <a:xfrm>
            <a:off x="6172200" y="2029968"/>
            <a:ext cx="73152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64B8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172200" y="202996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≠AI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6583680" y="292608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Правила, не LLM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6583680" y="3310128"/>
            <a:ext cx="19659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Детерминированно и объяснимо: у каждого сужения есть причина. Офлайн, без утечки данных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 flipH="1">
            <a:off x="8961120" y="2240280"/>
            <a:ext cx="2377440" cy="2743200"/>
          </a:xfrm>
          <a:prstGeom prst="round2DiagRect">
            <a:avLst/>
          </a:prstGeom>
          <a:solidFill>
            <a:srgbClr val="1E88E5"/>
          </a:solidFill>
          <a:ln/>
        </p:spPr>
      </p:sp>
      <p:sp>
        <p:nvSpPr>
          <p:cNvPr id="31" name="Shape 29"/>
          <p:cNvSpPr/>
          <p:nvPr/>
        </p:nvSpPr>
        <p:spPr>
          <a:xfrm>
            <a:off x="8778240" y="2029968"/>
            <a:ext cx="73152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E88E5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778240" y="202996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88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JS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9189720" y="292608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Чистый HTML/JS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9189720" y="3310128"/>
            <a:ext cx="19659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Нет сборки, легко встроить в портал, стиль Портала поставщиков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1143000" y="530352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ТЗ запрещает облачные LLM API; локальная модель допустима (до 40 ГБ VRAM), но задача сводится к сопоставлению с закрытым справочником — правила дают объяснимый результат и ничего не выдумывают.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7447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3" name="Shape 1"/>
          <p:cNvSpPr/>
          <p:nvPr/>
        </p:nvSpPr>
        <p:spPr>
          <a:xfrm>
            <a:off x="384505" y="33412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4" name="Shape 2"/>
          <p:cNvSpPr/>
          <p:nvPr/>
        </p:nvSpPr>
        <p:spPr>
          <a:xfrm>
            <a:off x="441655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5" name="Shape 3"/>
          <p:cNvSpPr/>
          <p:nvPr/>
        </p:nvSpPr>
        <p:spPr>
          <a:xfrm>
            <a:off x="327447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6" name="Shape 4"/>
          <p:cNvSpPr/>
          <p:nvPr/>
        </p:nvSpPr>
        <p:spPr>
          <a:xfrm>
            <a:off x="441655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59247" y="26517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Tender Hack 2026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65176"/>
            <a:ext cx="51892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Помощник заполнения характеристик СТЕ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7447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864523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48184" y="6495349"/>
            <a:ext cx="850941" cy="0"/>
          </a:xfrm>
          <a:prstGeom prst="line">
            <a:avLst/>
          </a:prstGeom>
          <a:noFill/>
          <a:ln w="12700">
            <a:solidFill>
              <a:srgbClr val="264B8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22147" y="6421465"/>
            <a:ext cx="147676" cy="147676"/>
          </a:xfrm>
          <a:prstGeom prst="ellipse">
            <a:avLst/>
          </a:prstGeom>
          <a:ln w="12700">
            <a:solidFill>
              <a:srgbClr val="264B8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994941" y="6391656"/>
            <a:ext cx="1869674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 / 07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1097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4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Код в топ-3: 100% на основном наборе, 98% на отложенном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914400" y="1737360"/>
            <a:ext cx="4846320" cy="329184"/>
          </a:xfrm>
          <a:prstGeom prst="roundRect">
            <a:avLst>
              <a:gd name="adj" fmla="val 50000"/>
            </a:avLst>
          </a:prstGeom>
          <a:solidFill>
            <a:srgbClr val="EAF2F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1737360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Цифры на текущей версии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14400" y="2286000"/>
            <a:ext cx="4846320" cy="3749040"/>
          </a:xfrm>
          <a:prstGeom prst="roundRect">
            <a:avLst>
              <a:gd name="adj" fmla="val 7000"/>
            </a:avLst>
          </a:prstGeom>
          <a:solidFill>
            <a:srgbClr val="F1F3F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97280" y="2395728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Основной набор · 45 кейсов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097280" y="3931920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Отложенный набор · 45 новых, код не подстраивался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097280" y="2670048"/>
            <a:ext cx="141732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143000" y="278892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1E88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98%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1143000" y="3255264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код 1-й</a:t>
            </a:r>
            <a:endParaRPr lang="en-US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44/45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2606040" y="2670048"/>
            <a:ext cx="141732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2651760" y="278892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1E88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100%</a:t>
            </a:r>
            <a:endParaRPr lang="en-US" sz="2600" dirty="0"/>
          </a:p>
        </p:txBody>
      </p:sp>
      <p:sp>
        <p:nvSpPr>
          <p:cNvPr id="25" name="Text 23"/>
          <p:cNvSpPr txBox="1"/>
          <p:nvPr/>
        </p:nvSpPr>
        <p:spPr>
          <a:xfrm>
            <a:off x="2651760" y="3255264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код в топ-3</a:t>
            </a:r>
            <a:endParaRPr lang="en-US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45/45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4114800" y="2670048"/>
            <a:ext cx="141732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160520" y="278892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1E88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100%</a:t>
            </a:r>
            <a:endParaRPr lang="en-US" sz="2600" dirty="0"/>
          </a:p>
        </p:txBody>
      </p:sp>
      <p:sp>
        <p:nvSpPr>
          <p:cNvPr id="28" name="Text 26"/>
          <p:cNvSpPr txBox="1"/>
          <p:nvPr/>
        </p:nvSpPr>
        <p:spPr>
          <a:xfrm>
            <a:off x="4160520" y="3255264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статус</a:t>
            </a:r>
            <a:endParaRPr lang="en-US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45/45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1097280" y="4187952"/>
            <a:ext cx="141732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143000" y="4306824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1E88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96%</a:t>
            </a:r>
            <a:endParaRPr lang="en-US" sz="2600" dirty="0"/>
          </a:p>
        </p:txBody>
      </p:sp>
      <p:sp>
        <p:nvSpPr>
          <p:cNvPr id="31" name="Text 29"/>
          <p:cNvSpPr txBox="1"/>
          <p:nvPr/>
        </p:nvSpPr>
        <p:spPr>
          <a:xfrm>
            <a:off x="1143000" y="4773168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код 1-й</a:t>
            </a:r>
            <a:endParaRPr lang="en-US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43/45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2606040" y="4187952"/>
            <a:ext cx="141732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2651760" y="4306824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1E88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98%</a:t>
            </a:r>
            <a:endParaRPr lang="en-US" sz="2600" dirty="0"/>
          </a:p>
        </p:txBody>
      </p:sp>
      <p:sp>
        <p:nvSpPr>
          <p:cNvPr id="34" name="Text 32"/>
          <p:cNvSpPr txBox="1"/>
          <p:nvPr/>
        </p:nvSpPr>
        <p:spPr>
          <a:xfrm>
            <a:off x="2651760" y="4773168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код в топ-3</a:t>
            </a:r>
            <a:endParaRPr lang="en-US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44/45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4114800" y="4187952"/>
            <a:ext cx="141732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4160520" y="4306824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1E88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96%</a:t>
            </a:r>
            <a:endParaRPr lang="en-US" sz="2600" dirty="0"/>
          </a:p>
        </p:txBody>
      </p:sp>
      <p:sp>
        <p:nvSpPr>
          <p:cNvPr id="37" name="Text 35"/>
          <p:cNvSpPr txBox="1"/>
          <p:nvPr/>
        </p:nvSpPr>
        <p:spPr>
          <a:xfrm>
            <a:off x="4160520" y="4773168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статус</a:t>
            </a:r>
            <a:endParaRPr lang="en-US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43/45</a:t>
            </a:r>
            <a:endParaRPr lang="en-US" sz="1150" dirty="0"/>
          </a:p>
        </p:txBody>
      </p:sp>
      <p:sp>
        <p:nvSpPr>
          <p:cNvPr id="38" name="Text 36"/>
          <p:cNvSpPr txBox="1"/>
          <p:nvPr/>
        </p:nvSpPr>
        <p:spPr>
          <a:xfrm>
            <a:off x="1097280" y="5413248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F2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Код первым по категориям: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мебель 15/15 · инструменты 15/15 · одежда 13/15</a:t>
            </a:r>
            <a:endParaRPr lang="en-US" sz="115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2286000"/>
          <a:ext cx="5257800" cy="914400"/>
        </p:xfrm>
        <a:graphic>
          <a:graphicData uri="http://schemas.openxmlformats.org/drawingml/2006/table">
            <a:tbl>
              <a:tblPr/>
              <a:tblGrid>
                <a:gridCol w="2971800"/>
                <a:gridCol w="2286000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Метрика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4B8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Значение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4B82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Внесённые ошибки пойманы**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264B8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30/30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Время ответа: медиана / p95*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264B8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~50 мс / ~160–190 мс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Нагрузка: параллельных запросов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264B8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50 без ошибок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Справочник КТРУ (весь архив)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264B8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3391 позиция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Автотесты pytest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264B8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62/62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Чистая сборка индекса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264B8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~100 с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0" name="Text 37"/>
          <p:cNvSpPr txBox="1"/>
          <p:nvPr/>
        </p:nvSpPr>
        <p:spPr>
          <a:xfrm>
            <a:off x="6172200" y="4434840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F2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Ложные тревоги 1/42 — и эта настоящая ошибка в карточке (2,1 г)</a:t>
            </a:r>
            <a:endParaRPr lang="en-US" sz="1200" dirty="0"/>
          </a:p>
        </p:txBody>
      </p:sp>
      <p:sp>
        <p:nvSpPr>
          <p:cNvPr id="41" name="Text 38"/>
          <p:cNvSpPr txBox="1"/>
          <p:nvPr/>
        </p:nvSpPr>
        <p:spPr>
          <a:xfrm>
            <a:off x="6172200" y="4846320"/>
            <a:ext cx="5257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* замер eval-скрипта qa/run_eval.py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** единицы 8/8, числа 8/8, несуществующие 7/7, опечатки 7/7; набор известен разработчикам — оценка оптимистичная</a:t>
            </a:r>
            <a:endParaRPr lang="en-US" sz="1050" dirty="0"/>
          </a:p>
        </p:txBody>
      </p:sp>
      <p:sp>
        <p:nvSpPr>
          <p:cNvPr id="42" name="Text 39"/>
          <p:cNvSpPr txBox="1"/>
          <p:nvPr/>
        </p:nvSpPr>
        <p:spPr>
          <a:xfrm>
            <a:off x="6172200" y="5486400"/>
            <a:ext cx="5257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F2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Демо: </a:t>
            </a:r>
            <a:r>
              <a:rPr lang="en-US" sz="12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мебель, одежда, инструменты; на выходе группа из 2–3 вариаций.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7447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3" name="Shape 1"/>
          <p:cNvSpPr/>
          <p:nvPr/>
        </p:nvSpPr>
        <p:spPr>
          <a:xfrm>
            <a:off x="384505" y="33412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4" name="Shape 2"/>
          <p:cNvSpPr/>
          <p:nvPr/>
        </p:nvSpPr>
        <p:spPr>
          <a:xfrm>
            <a:off x="441655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5" name="Shape 3"/>
          <p:cNvSpPr/>
          <p:nvPr/>
        </p:nvSpPr>
        <p:spPr>
          <a:xfrm>
            <a:off x="327447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6" name="Shape 4"/>
          <p:cNvSpPr/>
          <p:nvPr/>
        </p:nvSpPr>
        <p:spPr>
          <a:xfrm>
            <a:off x="441655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59247" y="26517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Tender Hack 2026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65176"/>
            <a:ext cx="51892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Помощник заполнения характеристик СТЕ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7447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864523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48184" y="6495349"/>
            <a:ext cx="850941" cy="0"/>
          </a:xfrm>
          <a:prstGeom prst="line">
            <a:avLst/>
          </a:prstGeom>
          <a:noFill/>
          <a:ln w="12700">
            <a:solidFill>
              <a:srgbClr val="264B8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22147" y="6421465"/>
            <a:ext cx="147676" cy="147676"/>
          </a:xfrm>
          <a:prstGeom prst="ellipse">
            <a:avLst/>
          </a:prstGeom>
          <a:ln w="12700">
            <a:solidFill>
              <a:srgbClr val="264B8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994941" y="6391656"/>
            <a:ext cx="1869674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 / 07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118872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2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Команда и роли</a:t>
            </a:r>
            <a:endParaRPr lang="en-US" sz="32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0" y="12801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Процесс с дорожками — на BPMN; приёмка изменений — через PR.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600200" y="2331720"/>
            <a:ext cx="4434840" cy="1417320"/>
          </a:xfrm>
          <a:prstGeom prst="roundRect">
            <a:avLst>
              <a:gd name="adj" fmla="val 12000"/>
            </a:avLst>
          </a:prstGeom>
          <a:solidFill>
            <a:srgbClr val="F1F3F6"/>
          </a:solidFill>
          <a:ln/>
        </p:spPr>
      </p:sp>
      <p:sp>
        <p:nvSpPr>
          <p:cNvPr id="17" name="Shape 15"/>
          <p:cNvSpPr/>
          <p:nvPr/>
        </p:nvSpPr>
        <p:spPr>
          <a:xfrm>
            <a:off x="1216152" y="2651760"/>
            <a:ext cx="777240" cy="7772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64B8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216152" y="26517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2194560" y="25146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F2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[Имя] — [роль]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2194560" y="28986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88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Координация и интеграция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2194560" y="322783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Приёмка и интеграция через PR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537960" y="2331720"/>
            <a:ext cx="4434840" cy="1417320"/>
          </a:xfrm>
          <a:prstGeom prst="roundRect">
            <a:avLst>
              <a:gd name="adj" fmla="val 12000"/>
            </a:avLst>
          </a:prstGeom>
          <a:solidFill>
            <a:srgbClr val="F1F3F6"/>
          </a:solidFill>
          <a:ln/>
        </p:spPr>
      </p:sp>
      <p:sp>
        <p:nvSpPr>
          <p:cNvPr id="23" name="Shape 21"/>
          <p:cNvSpPr/>
          <p:nvPr/>
        </p:nvSpPr>
        <p:spPr>
          <a:xfrm>
            <a:off x="6153912" y="2651760"/>
            <a:ext cx="777240" cy="7772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64B8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153912" y="26517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132320" y="25146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F2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[Имя] — [роль]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7132320" y="28986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88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Ядро КТРУ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7132320" y="322783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Разбор, унификация, сужение кодов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1600200" y="4023360"/>
            <a:ext cx="4434840" cy="1417320"/>
          </a:xfrm>
          <a:prstGeom prst="roundRect">
            <a:avLst>
              <a:gd name="adj" fmla="val 12000"/>
            </a:avLst>
          </a:prstGeom>
          <a:solidFill>
            <a:srgbClr val="F1F3F6"/>
          </a:solidFill>
          <a:ln/>
        </p:spPr>
      </p:sp>
      <p:sp>
        <p:nvSpPr>
          <p:cNvPr id="29" name="Shape 27"/>
          <p:cNvSpPr/>
          <p:nvPr/>
        </p:nvSpPr>
        <p:spPr>
          <a:xfrm>
            <a:off x="1216152" y="4343400"/>
            <a:ext cx="777240" cy="7772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64B8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216152" y="43434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2194560" y="4206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F2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[Имя] — [роль]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2194560" y="45902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88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Интерфейс и защита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2194560" y="491947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UI в стиле портала, BPMN, документация, презентация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537960" y="4023360"/>
            <a:ext cx="4434840" cy="1417320"/>
          </a:xfrm>
          <a:prstGeom prst="roundRect">
            <a:avLst>
              <a:gd name="adj" fmla="val 12000"/>
            </a:avLst>
          </a:prstGeom>
          <a:solidFill>
            <a:srgbClr val="F1F3F6"/>
          </a:solidFill>
          <a:ln/>
        </p:spPr>
      </p:sp>
      <p:sp>
        <p:nvSpPr>
          <p:cNvPr id="35" name="Shape 33"/>
          <p:cNvSpPr/>
          <p:nvPr/>
        </p:nvSpPr>
        <p:spPr>
          <a:xfrm>
            <a:off x="6153912" y="4343400"/>
            <a:ext cx="777240" cy="7772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64B8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153912" y="43434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4B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7132320" y="4206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F2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[Имя] — [роль]</a:t>
            </a:r>
            <a:endParaRPr lang="en-US" sz="1700" dirty="0"/>
          </a:p>
        </p:txBody>
      </p:sp>
      <p:sp>
        <p:nvSpPr>
          <p:cNvPr id="38" name="Text 36"/>
          <p:cNvSpPr txBox="1"/>
          <p:nvPr/>
        </p:nvSpPr>
        <p:spPr>
          <a:xfrm>
            <a:off x="7132320" y="45902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88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Тестирование и качество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7132320" y="491947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Тест-кейсы и метрики QA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Помощник заполнения характеристик СТЕ — Tender Hack 2026</dc:title>
  <dc:subject>PptxGenJS Presentation</dc:subject>
  <dc:creator>PptxGenJS</dc:creator>
  <cp:lastModifiedBy>PptxGenJS</cp:lastModifiedBy>
  <cp:revision>1</cp:revision>
  <dcterms:created xsi:type="dcterms:W3CDTF">2026-10-10T10:17:21Z</dcterms:created>
  <dcterms:modified xsi:type="dcterms:W3CDTF">2026-10-10T10:17:21Z</dcterms:modified>
</cp:coreProperties>
</file>