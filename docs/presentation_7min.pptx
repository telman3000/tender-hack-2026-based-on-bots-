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Поставщик описывает товар как умеет, одной строкой — например, «Стол письменный 1200 на 700 на 750 миллиметров». Для СТЕ нужны характеристики по КТРУ. Код КТРУ — это группа товаров, а не конкретный товар: подобрать правильную группу и заполнить её обязательные характеристики сложно. Типичные ошибки: опечатки, неверные единицы, значения вне допустимого списка, пропущенные обязательные характеристики. Итог — карточки отклоняются, позиции дублируются, сравнивать цены тяжело.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Важно: код КТРУ — не один конкретный товар, а группа однородных товаров со своим списком обязательных характеристик. Конкретная СТЕ — позиция внутри группы с заполненными значениями. Одну и ту же позицию продают многие поставщики, каждый по своей цене; из этих цен считается референтная. Если карточка заполнена правильно и дубли не плодятся, цены честно сравниваются.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Пользователь вводит описание — сервис выделяет характеристики и сразу показывает их в редактируемой таблице. У каждой характеристики бейдж источника: КТРУ, Портал или Новая. Подсказки объясняют, что не так и что ожидается, и дают варианты исправления в один клик; недостающие обязательные характеристики добавляются кнопкой. Воронка показывает, сколько кодов КТРУ осталось после каждого шага и почему. Любая правка пересчитывает результат автоматически, задержка ввода около 600 мс.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Бейдж «КТРУ» — характеристика есть в спецификации выбранного кода, сюда же попадают незаполненные обязательные. «Портал» — имя совпало с характеристиками из выгрузок портала. «Новая» — не нашли ни там, ни там; такая характеристика идёт на модерацию. Таблица редактируется прямо на месте, после правки всё пересчитывается. Воронка: например, для кресла 355 кодов мебели → 2 по наименованию. Подсказки: «длина ключа 27 метров» — система скажет, что это нереально, и предложит «27 мм» или «27 см».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дорожки: Пользователь, Сервис, Данные. Пользователь вводит описание в свободной форме; сервис разбирает текст (parser), унифицирует названия и единицы (unifier), ищет в индексе КТРУ и портала (SQLite), сужает коды и проверяет значения (matcher, engine) и формирует ответ: подсказки, воронку, кандидатов. Цикл «правка → пересчёт» повторяется, пока пользователь не подтвердит результат. Исходник — docs/process.bpmn, открывается в Camunda Modeler или bpmn.io.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Веб-интерфейс на HTML/JS отправляет JSON в FastAPI: POST /api/analyze. Дальше конвейер: parser — текст в пары «характеристика — значение — единица»; unifier — синонимы и нормализация; matcher — поиск кандидатов КТРУ по названию и ОКПД2; engine — сужение кодов, проверка значений, подсказки. SQLite-индекс собирается заранее скриптом scripts/build_index.py из XML КТРУ и выгрузки XLSX портала. Запрос обслуживается локально,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+ FastAPI — быстрая разработка, Pydantic проверяет контракт, документация API генерируется сама. SQLite — один файл, без отдельного сервера, быстрый поиск по справочнику, легко упаковать в Docker. Почему без нейросетей: скорость — медиана около 50 мс; каждое решение можно объяснить; работает без интернета; ничего не выдумывает — всё из справочника КТРУ и данных портала. ТЗ запрещает облачные LLM API. Чистый HTML/JS — нет сборки, легко встроить в портал.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на текущей версии, эталонные ответы зафиксированы до прогона. Основной набор, 45 кейсов: верный код на первом месте 44/45 — 98%, в тройке — 45/45. Отложенный набор — 45 новых позиций, под которые код не подстраивался: на первом месте 43/45 — 96%, в тройке 44/45 — 98%, статус верный 43/45. По доменам: мебель 15/15, инструменты 15/15, одежда 13/15. Ложных тревог на чистых кейсах — 1/42. Скорость: медиана ~50 мс, p95 99–164 мс по замеру eval-скрипта; 50 параллельных запросов — без ошибок. Справочник — 3391 позиция КТРУ, весь архив; чистая сборка индекса — ~100 с; 58 автотестов pytest. Демо: мебель, одежда, инструменты — от свободного текста до кода КТРУ; показываем таблицу с бейджами и исправление в один клик; на выходе группа из 2–3 вариаций — это нормально, различия задают обязательные характеристики.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Честно об ограничениях: пока три области товаров; итог воронки — группа из 2–3 вариаций, и система прямо говорит, какую характеристику уточнить; близкие наименования иногда путаются. Слабое место — внесённые ошибки: опечатки и отдельные нереалистичные числа пока ловятся не всегда. Проверка несуществующих значений — сделано. Дальше — Postgres с pg_trgm и GIN-индексами, пересборка индекса по расписанию с атомарной подменой, расширение на новые домены словарями и данными без смены архитектуры.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Роли: координация и интеграция через PR; ядро КТРУ — разбор, унификация, сужение кодов; интерфейс, документация и защита — UI в стиле портала, BPMN, презентация; тестирование и качество — тест-кейсы и метрики. Перед защитой вписать имена вместо плейсхолдеров.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10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2302" y="132588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</a:t>
            </a:r>
            <a:endParaRPr lang="en-US" sz="4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заполнения</a:t>
            </a:r>
            <a:endParaRPr lang="en-US" sz="4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характеристик СТЕ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1132302" y="3886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388620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Поставщик описывает товар свободным текстом, а для СТЕ нужны характеристики по КТРУ — подобрать группу и заполнить обязательные поля сложно.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32302" y="5120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карточки отклоняются, позиции дублируются, сравнивать цены тяжело.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903720" y="1417320"/>
            <a:ext cx="4526280" cy="43434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78040" y="16276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Типичные ошибки в карточке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78040" y="2103120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Опечатки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880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названиях и значениях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0" y="2103120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7260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Единицы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372600" y="2880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неверные или несовместимые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78040" y="3858768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41788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Вне списка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463600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значения не из допустимых КТРУ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235440" y="3858768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72600" y="41788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Пропуски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372600" y="463600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обязательных характеристик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КТРУ — это группа товаров, а не один товар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1737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Одну СТЕ предлагают многие поставщики, каждый по своей цене — из этих цен считается референтная.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2514600"/>
            <a:ext cx="2286000" cy="2606040"/>
          </a:xfrm>
          <a:prstGeom prst="roundRect">
            <a:avLst>
              <a:gd name="adj" fmla="val 10000"/>
            </a:avLst>
          </a:prstGeom>
          <a:solidFill>
            <a:srgbClr val="F1F3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43000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КТРУ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9319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Группа однородных товаров со своим списком обязательных характеристик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3383280"/>
            <a:ext cx="393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3593592" y="2514600"/>
            <a:ext cx="2286000" cy="2606040"/>
          </a:xfrm>
          <a:prstGeom prst="roundRect">
            <a:avLst>
              <a:gd name="adj" fmla="val 10000"/>
            </a:avLst>
          </a:prstGeom>
          <a:solidFill>
            <a:srgbClr val="F1F3F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822192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3822192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822192" y="39319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Позиция внутри группы с заполненными значениями характеристик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879592" y="3383280"/>
            <a:ext cx="393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6272784" y="2514600"/>
            <a:ext cx="2286000" cy="2606040"/>
          </a:xfrm>
          <a:prstGeom prst="roundRect">
            <a:avLst>
              <a:gd name="adj" fmla="val 10000"/>
            </a:avLst>
          </a:prstGeom>
          <a:solidFill>
            <a:srgbClr val="F1F3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01384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6501384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Цены поставщиков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501384" y="39319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одну СТЕ свои цены ставят многие поставщики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558784" y="3383280"/>
            <a:ext cx="393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8951976" y="2514600"/>
            <a:ext cx="2286000" cy="2606040"/>
          </a:xfrm>
          <a:prstGeom prst="roundRect">
            <a:avLst>
              <a:gd name="adj" fmla="val 10000"/>
            </a:avLst>
          </a:prstGeom>
          <a:solidFill>
            <a:srgbClr val="264B8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80576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800" dirty="0"/>
          </a:p>
        </p:txBody>
      </p:sp>
      <p:sp>
        <p:nvSpPr>
          <p:cNvPr id="33" name="Text 31"/>
          <p:cNvSpPr txBox="1"/>
          <p:nvPr/>
        </p:nvSpPr>
        <p:spPr>
          <a:xfrm>
            <a:off x="9180576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Референтная цена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180576" y="39319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Рассчитывается из цен многих поставщиков на одну СТЕ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14400" y="5349240"/>
            <a:ext cx="1033272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4400" y="54864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Поэтому важно не плодить дубли СТЕ: правильная привязка к карточке объединяет предложения и делает референтную цену точнее.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32588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 свободного текста — в проверенную таблицу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432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Пользователь вводит описание — сервис выделяет характеристики и сразу показывает их в редактируемой таблице.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88720" y="3977640"/>
            <a:ext cx="3840480" cy="114300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71600" y="41148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ввода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891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«Стол письменный 1200 на 700 на 750 миллиметров»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41848" y="1325880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1508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14630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Бейдж источника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178308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каждой характеристики: КТРУ, Портал или Новая.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41848" y="2441448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2624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2578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Подсказки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не так и что ожидается; исправление в один клик, недостающие обязательные — кнопкой.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41848" y="3557016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373989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6355080" y="369417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Воронка сужения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401421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кодов КТРУ осталось после каждого шага и почему.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641848" y="4672584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23560" y="485546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48097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Автопересчёт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5129784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Любая правка пересчитывает результат (≈600 мс задержки ввода).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41848" y="5788152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0515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Интерфейс: всё на одном экране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914400" y="1920240"/>
            <a:ext cx="2377440" cy="3931920"/>
          </a:xfrm>
          <a:prstGeom prst="roundRect">
            <a:avLst>
              <a:gd name="adj" fmla="val 8000"/>
            </a:avLst>
          </a:prstGeom>
          <a:ln w="19050">
            <a:solidFill>
              <a:srgbClr val="264B8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Бейджи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27432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 характеристики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33756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КТРУ — есть в спецификации кода, вкл. незаполненные обязательные</a:t>
            </a:r>
            <a:endParaRPr lang="en-US" sz="12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Портал — совпало с характеристиками портала</a:t>
            </a:r>
            <a:endParaRPr lang="en-US" sz="12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— не найдена, идёт на модерацию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51560" y="5303520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64B8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51560" y="530352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КТРУ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64792" y="5303520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764792" y="530352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Портал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478024" y="5303520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478024" y="530352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47872" y="1920240"/>
            <a:ext cx="2377440" cy="3931920"/>
          </a:xfrm>
          <a:prstGeom prst="roundRect">
            <a:avLst>
              <a:gd name="adj" fmla="val 8000"/>
            </a:avLst>
          </a:prstGeom>
          <a:ln w="19050">
            <a:solidFill>
              <a:srgbClr val="264B8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685032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≈600 мс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3685032" y="27432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Редактируемая таблица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730752" y="333756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Любое значение правится прямо в таблице</a:t>
            </a:r>
            <a:endParaRPr lang="en-US" sz="12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правки всё пересчитывается заново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81344" y="1783080"/>
            <a:ext cx="2377440" cy="4206240"/>
          </a:xfrm>
          <a:prstGeom prst="roundRect">
            <a:avLst>
              <a:gd name="adj" fmla="val 8000"/>
            </a:avLst>
          </a:prstGeom>
          <a:ln w="28575">
            <a:solidFill>
              <a:srgbClr val="1E88E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18504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355 → 2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6318504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Воронка сужения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364224" y="320040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Домен → наименование → ОКПД2 → характеристики</a:t>
            </a:r>
            <a:endParaRPr lang="en-US" sz="12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каждом шаге: сколько кодов осталось и почему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14816" y="1920240"/>
            <a:ext cx="2377440" cy="3931920"/>
          </a:xfrm>
          <a:prstGeom prst="roundRect">
            <a:avLst>
              <a:gd name="adj" fmla="val 8000"/>
            </a:avLst>
          </a:prstGeom>
          <a:ln w="19050">
            <a:solidFill>
              <a:srgbClr val="264B8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51976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м → 27 мм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951976" y="27432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Подсказки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997696" y="333756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не так и что ожидается</a:t>
            </a:r>
            <a:endParaRPr lang="en-US" sz="12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трёх вариантов исправления в один клик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0515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Процесс: «правка → пересчёт» до подтверждения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777240" y="1783080"/>
            <a:ext cx="10652760" cy="397764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/>
        </p:spPr>
      </p:sp>
      <p:pic>
        <p:nvPicPr>
          <p:cNvPr id="16" name="Image 0" descr="/workspace/slides/tenderhack-vpYX9v/src/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87944"/>
            <a:ext cx="10287000" cy="3767913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14400" y="58978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Дорожки: Пользователь / Сервис / Данные. Исходник: docs/process.bpmn (Camunda Modeler / bpmn.io).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28016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Архитектура: конвейер модулей и заранее собранный индекс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246120"/>
            <a:ext cx="3154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Веб-интерфейс (HTML/JS) → FastAPI → parser → unifier → matcher → engine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SQLite-индекс собирается заранее скриптом build_index.py из XML КТРУ и выгрузки XLSX портала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Запрос обслуживается локально, без внешних сервисов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297680" y="1463040"/>
            <a:ext cx="7269480" cy="411480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/>
        </p:spPr>
      </p:sp>
      <p:pic>
        <p:nvPicPr>
          <p:cNvPr id="17" name="Image 0" descr="/workspace/slides/tenderhack-vpYX9v/src/compon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798554"/>
            <a:ext cx="6995160" cy="34437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109728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Технологии: почему без LLM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 flipH="1">
            <a:off x="1143000" y="2240280"/>
            <a:ext cx="2377440" cy="2743200"/>
          </a:xfrm>
          <a:prstGeom prst="round2DiagRect">
            <a:avLst/>
          </a:prstGeom>
          <a:solidFill>
            <a:srgbClr val="1E88E5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+ FastAPI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Быстрая разработка, контракт через Pydantic, автодокументация API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H="1">
            <a:off x="3749040" y="2240280"/>
            <a:ext cx="2377440" cy="2743200"/>
          </a:xfrm>
          <a:prstGeom prst="round2DiagRect">
            <a:avLst/>
          </a:prstGeom>
          <a:solidFill>
            <a:srgbClr val="1E88E5"/>
          </a:solidFill>
          <a:ln/>
        </p:spPr>
      </p:sp>
      <p:sp>
        <p:nvSpPr>
          <p:cNvPr id="21" name="Shape 19"/>
          <p:cNvSpPr/>
          <p:nvPr/>
        </p:nvSpPr>
        <p:spPr>
          <a:xfrm>
            <a:off x="356616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6616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DB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97764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файл без отдельного сервера, быстрый поиск по справочнику, легко в Docker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 flipH="1">
            <a:off x="6355080" y="2240280"/>
            <a:ext cx="2377440" cy="2743200"/>
          </a:xfrm>
          <a:prstGeom prst="round2DiagRect">
            <a:avLst/>
          </a:prstGeom>
          <a:solidFill>
            <a:srgbClr val="264B82"/>
          </a:solidFill>
          <a:ln/>
        </p:spPr>
      </p:sp>
      <p:sp>
        <p:nvSpPr>
          <p:cNvPr id="26" name="Shape 24"/>
          <p:cNvSpPr/>
          <p:nvPr/>
        </p:nvSpPr>
        <p:spPr>
          <a:xfrm>
            <a:off x="617220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7220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≠AI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Правила, не LLM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Детерминированно и объяснимо: у каждого сужения есть причина. Офлайн, без утечки данных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 flipH="1">
            <a:off x="8961120" y="2240280"/>
            <a:ext cx="2377440" cy="2743200"/>
          </a:xfrm>
          <a:prstGeom prst="round2DiagRect">
            <a:avLst/>
          </a:prstGeom>
          <a:solidFill>
            <a:srgbClr val="1E88E5"/>
          </a:solidFill>
          <a:ln/>
        </p:spPr>
      </p:sp>
      <p:sp>
        <p:nvSpPr>
          <p:cNvPr id="31" name="Shape 29"/>
          <p:cNvSpPr/>
          <p:nvPr/>
        </p:nvSpPr>
        <p:spPr>
          <a:xfrm>
            <a:off x="877824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7824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18972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Чистый HTML/JS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18972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Нет сборки, легко встроить в портал, стиль Портала поставщиков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53035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ТЗ запрещает облачные LLM API; локальная модель допустима (до 40 ГБ VRAM), но задача сводится к сопоставлению с закрытым справочником — правила дают объяснимый результат и ничего не выдумывают.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в топ-3: 100% на основном наборе, 98% на отложенном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1737360"/>
            <a:ext cx="4846320" cy="329184"/>
          </a:xfrm>
          <a:prstGeom prst="roundRect">
            <a:avLst>
              <a:gd name="adj" fmla="val 50000"/>
            </a:avLst>
          </a:prstGeom>
          <a:solidFill>
            <a:srgbClr val="EAF2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173736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Цифры на текущей версии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2286000"/>
            <a:ext cx="4846320" cy="3749040"/>
          </a:xfrm>
          <a:prstGeom prst="roundRect">
            <a:avLst>
              <a:gd name="adj" fmla="val 7000"/>
            </a:avLst>
          </a:prstGeom>
          <a:solidFill>
            <a:srgbClr val="F1F3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97280" y="239572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Основной набор · 45 кейсов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16052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Отложенный набор · 45 новых, код не подстраивался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97280" y="2697480"/>
            <a:ext cx="21488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88720" y="28620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98%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5021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на 1-м месте · 44/45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383280" y="2697480"/>
            <a:ext cx="21488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74720" y="28620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3474720" y="35021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в топ-3 · 45/45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97280" y="4462272"/>
            <a:ext cx="21488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88720" y="462686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34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526694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на 1-м месте · 43/45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383280" y="4462272"/>
            <a:ext cx="21488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474720" y="462686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98%</a:t>
            </a:r>
            <a:endParaRPr lang="en-US" sz="3400" dirty="0"/>
          </a:p>
        </p:txBody>
      </p:sp>
      <p:sp>
        <p:nvSpPr>
          <p:cNvPr id="31" name="Text 29"/>
          <p:cNvSpPr txBox="1"/>
          <p:nvPr/>
        </p:nvSpPr>
        <p:spPr>
          <a:xfrm>
            <a:off x="3474720" y="526694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в топ-3 · 44/45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286000"/>
          <a:ext cx="52578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2402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Метрика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Значение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8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Статус верный (отложенный)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43/45 · 96%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Мебель / инструменты / одежда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15/15 · 15/15 · 13/15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Ложные тревоги на чистых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1/42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Время ответа: медиана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~50 мс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Время ответа: p95*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99–164 мс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Нагрузка: параллельных запросов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 без ошибок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Справочник КТРУ (весь архив)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3391 позиция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Автотесты pytest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58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Чистая сборка индекса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~100 с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 txBox="1"/>
          <p:nvPr/>
        </p:nvSpPr>
        <p:spPr>
          <a:xfrm>
            <a:off x="6172200" y="5376672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замер eval-скрипта qa/run_eval.py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172200" y="562356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Демо: мебель, одежда, инструменты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172200" y="589788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Бейджи, правка в один клик, на выходе группа из 2–3 вариаций.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10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11887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Ограничения и план развития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10972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домена: мебель, одежда, инструменты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 воронки — группа из 2–3 вариаций; система говорит, что уточнить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Близкие наименования иногда путаются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257800" y="2286000"/>
            <a:ext cx="6035040" cy="731520"/>
          </a:xfrm>
          <a:prstGeom prst="roundRect">
            <a:avLst>
              <a:gd name="adj" fmla="val 12000"/>
            </a:avLst>
          </a:prstGeom>
          <a:solidFill>
            <a:srgbClr val="FFF4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40680" y="2395728"/>
            <a:ext cx="5715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Слабое место — внесённые ошибки: </a:t>
            </a: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опечатки и отдельные нереалистичные числа пока ловятся не всегда.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2461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188720" y="3657600"/>
            <a:ext cx="0" cy="347472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11880" y="3657600"/>
            <a:ext cx="0" cy="347472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3657600"/>
            <a:ext cx="0" cy="347472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58200" y="3657600"/>
            <a:ext cx="0" cy="347472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881360" y="3657600"/>
            <a:ext cx="0" cy="347472"/>
          </a:xfrm>
          <a:prstGeom prst="line">
            <a:avLst/>
          </a:prstGeom>
          <a:noFill/>
          <a:ln w="12700">
            <a:solidFill>
              <a:srgbClr val="1E88E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61872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691640" y="3703320"/>
            <a:ext cx="1143000" cy="24688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691640" y="3703320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сделано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188720" y="4160520"/>
            <a:ext cx="2240280" cy="173736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88720" y="44805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Несуществующие значения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501091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Ловить значения, которых нет в справочнике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685032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11880" y="4297680"/>
            <a:ext cx="2240280" cy="173736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611880" y="4617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611880" y="514807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pg_trgm и GIN-индексы для нечёткого поиска по всему каталогу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108192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35040" y="4434840"/>
            <a:ext cx="1463040" cy="173736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035040" y="4754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Обновление КТРУ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035040" y="52852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Пересборка индекса по расписанию с атомарной подменой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531352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458200" y="4160520"/>
            <a:ext cx="2240280" cy="173736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458200" y="44805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Новые домены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01091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Расширение словарями и данными — без смены архитектуры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188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280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Процесс с дорожками — на BPMN; приёмка изменений — через PR.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0020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615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1615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Координация и интеграция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Приёмка и интеграция через PR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23" name="Shape 21"/>
          <p:cNvSpPr/>
          <p:nvPr/>
        </p:nvSpPr>
        <p:spPr>
          <a:xfrm>
            <a:off x="615391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5391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Ядро КТРУ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Разбор, унификация, сужение кодов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60020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615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1615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19456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Интерфейс и защита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19456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в стиле портала, BPMN, документация, презентация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3796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391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5391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Тестирование и качество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Тест-кейсы и метрики 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заполнения характеристик СТЕ — Tender Hack 2026</dc:title>
  <dc:subject>PptxGenJS Presentation</dc:subject>
  <dc:creator>PptxGenJS</dc:creator>
  <cp:lastModifiedBy>PptxGenJS</cp:lastModifiedBy>
  <cp:revision>1</cp:revision>
  <dcterms:created xsi:type="dcterms:W3CDTF">2026-10-10T10:07:20Z</dcterms:created>
  <dcterms:modified xsi:type="dcterms:W3CDTF">2026-10-10T10:07:20Z</dcterms:modified>
</cp:coreProperties>
</file>