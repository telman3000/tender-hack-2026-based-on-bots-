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Поставщик описывает товар как умеет, одной строкой — например, «Стол письменный 1200 на 700 на 750 миллиметров». Для СТЕ нужны характеристики по КТРУ. Код КТРУ — это группа товаров, а не конкретный товар: подобрать правильную группу и заполнить её обязательные характеристики сложно. Типичные ошибки: опечатки, неверные единицы, значения вне допустимого списка, пропущенные обязательные характеристики. Итог — карточки отклоняются, позиции дублируются, сравнивать цены тяжело.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Важно: код КТРУ — не один конкретный товар, а группа однородных товаров со своим списком обязательных характеристик. Конкретная СТЕ — позиция внутри группы с заполненными значениями. Одну и ту же позицию продают многие поставщики, каждый по своей цене; из этих цен считается референтная. Если карточка заполнена правильно и дубли не плодятся, цены честно сравниваются.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Пользователь вводит описание — сервис выделяет характеристики и сразу показывает их в редактируемой таблице. У каждой характеристики бейдж источника: КТРУ, Портал или Новая. Подсказки объясняют, что не так и что ожидается, и дают варианты исправления в один клик; недостающие обязательные характеристики добавляются кнопкой. Воронка показывает, сколько кодов КТРУ осталось после каждого шага и почему. Любая правка пересчитывает результат автоматически, задержка ввода около 600 мс.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Бейдж «КТРУ» — характеристика есть в спецификации выбранного кода, сюда же попадают незаполненные обязательные. «Портал» — имя совпало с характеристиками из выгрузок портала. «Новая» — не нашли ни там, ни там; такая характеристика идёт на модерацию. Таблица редактируется прямо на месте, после правки всё пересчитывается. Воронка: например, для кресла 355 кодов мебели → 2 по наименованию. Подсказки: «длина ключа 27 метров» — система скажет, что это нереально, и предложит «27 мм» или «27 см».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дорожки: Пользователь, Сервис, Данные. Пользователь вводит описание в свободной форме; сервис разбирает текст (parser), унифицирует названия и единицы (unifier), ищет в индексе КТРУ и портала (SQLite), сужает коды и проверяет значения (matcher, engine) и формирует ответ: подсказки, воронку, кандидатов. Цикл «правка → пересчёт» повторяется, пока пользователь не подтвердит результат. Исходник — docs/process.bpmn, открывается в Camunda Modeler или bpmn.io.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Веб-интерфейс на HTML/JS отправляет JSON в FastAPI: POST /api/analyze. Дальше конвейер: parser — текст в пары «характеристика — значение — единица»; unifier — синонимы и нормализация; matcher — поиск кандидатов КТРУ по названию и ОКПД2; engine — сужение кодов, проверка значений, подсказки. SQLite-индекс собирается заранее скриптом scripts/build_index.py из XML КТРУ и выгрузки XLSX портала. Запрос обслуживается локально, без внешних сервисов.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+ FastAPI — быстрая разработка, Pydantic проверяет контракт, документация API генерируется сама. SQLite — один файл, без отдельного сервера, быстрый поиск по справочнику, легко упаковать в Docker. Почему без нейросетей: скорость — медиана около 50 мс; каждое решение можно объяснить; работает без интернета; ничего не выдумывает — всё из справочника КТРУ и данных портала. ТЗ запрещает облачные LLM API. Чистый HTML/JS — нет сборки, легко встроить в портал.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на текущей версии (main 0c9b8c7, эталонные ответы зафиксированы до прогона). Основной набор, 45 кейсов: верный код на первом месте 44 из 45 — 98%, в тройке — все 45. Отложенный набор — 45 новых позиций, под которые код не подстраивался: на первом месте 43 из 45 — 96%, в тройке 44 из 45 — 98%, статус верный 43 из 45. По доменам: мебель 15 из 15, инструменты 15 из 15, одежда 13 из 15. Ложных тревог на чистых кейсах — 1 из 42. Скорость: медиана около 50 мс, p95 около 100–115 мс по замеру eval-скрипта; чистая сборка индекса — 71 с. Демо: мебель, одежда, инструменты — от свободного текста до кода КТРУ; показываем таблицу с бейджами, исправление в один клик и воронку N → M →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 об ограничениях: пока три области товаров; итог иногда — не один код, а 2–3 похожих варианта, и тогда система прямо говорит, какую характеристику уточнить; близкие наименования иногда путаются. Слабое место — внесённые ошибки: поймали 19 из 30. Единицы 8 из 8, нереалистичные числа 7 из 8, опечатки 4 из 7, а несуществующие значения — 0 из 7: это следующий шаг. Дальше — Postgres с pg_trgm и GIN-индексами, пересборка индекса по расписанию с атомарной подменой, расширение на новые домены словарями и данными без смены архитектуры.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Роли: координация и интеграция через PR; ядро КТРУ — разбор, унификация, сужение кодов; интерфейс, документация и защита — UI в стиле портала, BPMN, презентация; тестирование и качество — тест-кейсы и метрики. Перед защитой вписать имена вместо плейсхолдеров.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2302" y="132588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заполнения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характеристик СТЕ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1132302" y="38862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8862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Поставщик описывает товар свободным текстом, а для СТЕ нужны характеристики по КТРУ — подобрать группу и заполнить обязательные поля сложно.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2302" y="5120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Итог: карточки отклоняются, позиции дублируются, сравнивать цены тяжело.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4526280" cy="43434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Типичные ошибки в карточке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2103120"/>
            <a:ext cx="192024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Опечатки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880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названиях и значениях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0" y="2103120"/>
            <a:ext cx="192024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726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Единицы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2880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неверные или несовместимые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78040" y="3858768"/>
            <a:ext cx="192024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0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 списка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6360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значения не из допустимых КТРУ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35440" y="3858768"/>
            <a:ext cx="192024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372600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Пропуски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46360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обязательных характеристик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КТРУ — это группа товаров, а не один товар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Одну СТЕ предлагают многие поставщики, каждый по своей цене — из этих цен считается референтная.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2514600"/>
            <a:ext cx="2286000" cy="2606040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КТРУ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9319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Группа однородных товаров со своим списком обязательных характеристик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338328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3593592" y="2514600"/>
            <a:ext cx="2286000" cy="2606040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22192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3822192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822192" y="39319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Позиция внутри группы с заполненными значениями характеристик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879592" y="338328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272784" y="2514600"/>
            <a:ext cx="2286000" cy="2606040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01384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6501384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Цены поставщиков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501384" y="39319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одну СТЕ свои цены ставят многие поставщики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558784" y="338328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8951976" y="2514600"/>
            <a:ext cx="2286000" cy="2606040"/>
          </a:xfrm>
          <a:prstGeom prst="roundRect">
            <a:avLst>
              <a:gd name="adj" fmla="val 10000"/>
            </a:avLst>
          </a:prstGeom>
          <a:solidFill>
            <a:srgbClr val="264B8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80576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Референтная цена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80576" y="39319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Рассчитывается из цен многих поставщиков на одну СТЕ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4400" y="5349240"/>
            <a:ext cx="1033272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Поэтому важно не плодить дубли СТЕ: правильная привязка к карточке объединяет предложения и делает референтную цену точнее.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3258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свободного текста — в проверенную таблицу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43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 вводит описание — сервис выделяет характеристики и сразу показывает их в редактируемой таблице.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977640"/>
            <a:ext cx="3840480" cy="114300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ввода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89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«Стол письменный 1200 на 700 на 750 миллиметров»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41848" y="1325880"/>
            <a:ext cx="512064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1508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463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Бейдж источника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17830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каждой характеристики: КТРУ, Портал или Новая.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41848" y="2441448"/>
            <a:ext cx="512064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23560" y="2624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2578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Подсказки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28986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не так и что ожидается; исправление в один клик, недостающие обязательные — кнопкой.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41848" y="3557016"/>
            <a:ext cx="512064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23560" y="37398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6941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Воронка сужения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40142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Сколько кодов КТРУ осталось после каждого шага и почему.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41848" y="4672584"/>
            <a:ext cx="512064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23560" y="48554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48097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Автопересчёт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512978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Любая правка пересчитывает результат (≈600 мс задержки ввода).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41848" y="5788152"/>
            <a:ext cx="512064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Интерфейс: всё на одном экране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914400" y="1920240"/>
            <a:ext cx="2377440" cy="3931920"/>
          </a:xfrm>
          <a:prstGeom prst="roundRect">
            <a:avLst>
              <a:gd name="adj" fmla="val 8000"/>
            </a:avLst>
          </a:prstGeom>
          <a:ln w="19050">
            <a:solidFill>
              <a:srgbClr val="264B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Бейджи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 характеристики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33756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КТРУ — есть в спецификации кода, вкл. незаполненные обязательные</a:t>
            </a:r>
            <a:endParaRPr lang="en-US" sz="12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Портал — совпало с характеристиками портала</a:t>
            </a:r>
            <a:endParaRPr lang="en-US" sz="12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Новая — не найдена, идёт на модерацию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53035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64B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53035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КТРУ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64792" y="53035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764792" y="53035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Портал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78024" y="53035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478024" y="53035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Новая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47872" y="1920240"/>
            <a:ext cx="2377440" cy="3931920"/>
          </a:xfrm>
          <a:prstGeom prst="roundRect">
            <a:avLst>
              <a:gd name="adj" fmla="val 8000"/>
            </a:avLst>
          </a:prstGeom>
          <a:ln w="19050">
            <a:solidFill>
              <a:srgbClr val="264B8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85032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≈600 мс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3685032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Редактируемая таблица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730752" y="333756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Любое значение правится прямо в таблице</a:t>
            </a:r>
            <a:endParaRPr lang="en-US" sz="12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правки всё пересчитывается заново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81344" y="1783080"/>
            <a:ext cx="2377440" cy="4206240"/>
          </a:xfrm>
          <a:prstGeom prst="roundRect">
            <a:avLst>
              <a:gd name="adj" fmla="val 8000"/>
            </a:avLst>
          </a:prstGeom>
          <a:ln w="28575">
            <a:solidFill>
              <a:srgbClr val="1E88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18504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355 → 2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6318504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Воронка сужения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64224" y="320040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Домен → наименование → ОКПД2 → характеристики</a:t>
            </a:r>
            <a:endParaRPr lang="en-US" sz="12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каждом шаге: сколько кодов осталось и почему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14816" y="1920240"/>
            <a:ext cx="2377440" cy="3931920"/>
          </a:xfrm>
          <a:prstGeom prst="roundRect">
            <a:avLst>
              <a:gd name="adj" fmla="val 8000"/>
            </a:avLst>
          </a:prstGeom>
          <a:ln w="19050">
            <a:solidFill>
              <a:srgbClr val="264B8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51976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м → 27 мм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951976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Подсказки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997696" y="333756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не так и что ожидается</a:t>
            </a:r>
            <a:endParaRPr lang="en-US" sz="12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трёх вариантов исправления в один клик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Процесс: «правка → пересчёт» до подтверждения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77240" y="1783080"/>
            <a:ext cx="10652760" cy="397764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/>
        </p:spPr>
      </p:sp>
      <p:pic>
        <p:nvPicPr>
          <p:cNvPr id="16" name="Image 0" descr="/workspace/slides/tenderhack-vpYX9v/src/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87944"/>
            <a:ext cx="10287000" cy="376791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Дорожки: Пользователь / Сервис / Данные. Исходник: docs/process.bpmn (Camunda Modeler / bpmn.io).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Архитектура: конвейер модулей и заранее собранный индекс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2461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Веб-интерфейс (HTML/JS) → FastAPI → parser → unifier → matcher → engine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SQLite-индекс собирается заранее скриптом build_index.py из XML КТРУ и выгрузки XLSX портала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Запрос обслуживается локально, без внешних сервисов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1463040"/>
            <a:ext cx="7269480" cy="411480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/>
        </p:spPr>
      </p:sp>
      <p:pic>
        <p:nvPicPr>
          <p:cNvPr id="17" name="Image 0" descr="/workspace/slides/tenderhack-vpYX9v/src/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798554"/>
            <a:ext cx="6995160" cy="34437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10972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Технологии: почему без LLM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 flipH="1">
            <a:off x="1143000" y="2240280"/>
            <a:ext cx="2377440" cy="2743200"/>
          </a:xfrm>
          <a:prstGeom prst="round2DiagRect">
            <a:avLst/>
          </a:prstGeom>
          <a:solidFill>
            <a:srgbClr val="1E8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202996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+ FastAPI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310128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Быстрая разработка, контракт через Pydantic, автодокументация 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flipH="1">
            <a:off x="3749040" y="2240280"/>
            <a:ext cx="2377440" cy="2743200"/>
          </a:xfrm>
          <a:prstGeom prst="round2DiagRect">
            <a:avLst/>
          </a:prstGeom>
          <a:solidFill>
            <a:srgbClr val="1E88E5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202996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3310128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файл без отдельного сервера, быстрый поиск по справочнику, легко в Docker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 flipH="1">
            <a:off x="6355080" y="2240280"/>
            <a:ext cx="2377440" cy="2743200"/>
          </a:xfrm>
          <a:prstGeom prst="round2DiagRect">
            <a:avLst/>
          </a:prstGeom>
          <a:solidFill>
            <a:srgbClr val="264B82"/>
          </a:solidFill>
          <a:ln/>
        </p:spPr>
      </p:sp>
      <p:sp>
        <p:nvSpPr>
          <p:cNvPr id="26" name="Shape 24"/>
          <p:cNvSpPr/>
          <p:nvPr/>
        </p:nvSpPr>
        <p:spPr>
          <a:xfrm>
            <a:off x="6172200" y="202996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≠AI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Правила, не LLM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310128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Детерминированно и объяснимо: у каждого сужения есть причина. Офлайн, без утечки данных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 flipH="1">
            <a:off x="8961120" y="2240280"/>
            <a:ext cx="2377440" cy="2743200"/>
          </a:xfrm>
          <a:prstGeom prst="round2DiagRect">
            <a:avLst/>
          </a:prstGeom>
          <a:solidFill>
            <a:srgbClr val="1E88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778240" y="202996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78240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Чистый HTML/JS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3310128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сборки, легко встроить в портал, стиль Портала поставщиков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ТЗ запрещает облачные LLM API; локальная модель допустима (до 40 ГБ VRAM), но задача сводится к сопоставлению с закрытым справочником — правила дают объяснимый результат и ничего не выдумывают.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в топ-3: 100% на основном наборе, 98% на отложенном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1737360"/>
            <a:ext cx="4846320" cy="329184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7373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Цифры на текущей версии · main 0c9b8c7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2286000"/>
            <a:ext cx="4846320" cy="3749040"/>
          </a:xfrm>
          <a:prstGeom prst="roundRect">
            <a:avLst>
              <a:gd name="adj" fmla="val 7000"/>
            </a:avLst>
          </a:prstGeom>
          <a:solidFill>
            <a:srgbClr val="F1F3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23957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Основной набор · 45 кейсов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1605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Отложенный набор · 45 новых, код не подстраивался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2697480"/>
            <a:ext cx="214884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88720" y="28620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502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на 1-м месте · 44/45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2697480"/>
            <a:ext cx="214884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74720" y="28620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502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в топ-3 · 45/45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462272"/>
            <a:ext cx="214884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88720" y="46268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5266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на 1-м месте · 43/45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4462272"/>
            <a:ext cx="214884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74720" y="46268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5266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в топ-3 · 44/45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286000"/>
          <a:ext cx="52578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40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Метрика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Значение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Статус верный (отложенный)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43/45 · 96%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Мебель / инструменты / одежда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15/15 · 15/15 · 13/15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Ложные тревоги на чистых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1/42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Время ответа: медиана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~50 мс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Время ответа: p95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~100–115 мс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Чистая сборка индекса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64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71 с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6172200" y="493776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— замер eval-скрипта qa/run_eval.py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72200" y="5257800"/>
            <a:ext cx="5257800" cy="0"/>
          </a:xfrm>
          <a:prstGeom prst="line">
            <a:avLst/>
          </a:prstGeom>
          <a:noFill/>
          <a:ln w="12700">
            <a:solidFill>
              <a:srgbClr val="5AA9F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172200" y="53492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Демо: мебель, одежда, инструменты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172200" y="56692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с бейджами, правка в один клик, воронка N → M → 1.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188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Ограничения и план развития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0972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домена: мебель, одежда, инструменты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иногда — 2–3 похожих кода; система говорит, что уточнить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Bef>
                <a:spcPts val="600"/>
              </a:spcBef>
              <a:buSzPct val="100%"/>
              <a:buChar char="•"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Близкие наименования иногда путаются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57800" y="2286000"/>
            <a:ext cx="6035040" cy="86868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40680" y="237744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Слабое место — внесённые ошибки пойманы 19/30: </a:t>
            </a:r>
            <a:r>
              <a:rPr lang="en-US" sz="12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единицы 8/8, нереалистичные числа 7/8, опечатки 4/7, несуществующие значения 0/7.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8720" y="3657600"/>
            <a:ext cx="0" cy="347472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3657600"/>
            <a:ext cx="0" cy="347472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3657600"/>
            <a:ext cx="0" cy="347472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3657600"/>
            <a:ext cx="0" cy="347472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1360" y="3657600"/>
            <a:ext cx="0" cy="347472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61872" y="3749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88720" y="4160520"/>
            <a:ext cx="2240280" cy="17373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88720" y="4480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Несуществующие значения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0109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Ловить значения, которых нет в справочнике, — следующий шаг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85032" y="3749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4297680"/>
            <a:ext cx="2240280" cy="17373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611880" y="4617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611880" y="514807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pg_trgm и GIN-индексы для нечёткого поиска по всему каталогу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08192" y="3749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4434840"/>
            <a:ext cx="1463040" cy="17373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035040" y="4754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Обновление КТРУ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035040" y="52852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Пересборка индекса по расписанию с атомарной подменой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531352" y="3749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58200" y="4160520"/>
            <a:ext cx="2240280" cy="17373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58200" y="4480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Новые домены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458200" y="50109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Расширение словарями и данными — без смены архитектуры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447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3" name="Shape 1"/>
          <p:cNvSpPr/>
          <p:nvPr/>
        </p:nvSpPr>
        <p:spPr>
          <a:xfrm>
            <a:off x="384505" y="33412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4" name="Shape 2"/>
          <p:cNvSpPr/>
          <p:nvPr/>
        </p:nvSpPr>
        <p:spPr>
          <a:xfrm>
            <a:off x="441655" y="277063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5" name="Shape 3"/>
          <p:cNvSpPr/>
          <p:nvPr/>
        </p:nvSpPr>
        <p:spPr>
          <a:xfrm>
            <a:off x="327447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6" name="Shape 4"/>
          <p:cNvSpPr/>
          <p:nvPr/>
        </p:nvSpPr>
        <p:spPr>
          <a:xfrm>
            <a:off x="441655" y="391272"/>
            <a:ext cx="57059" cy="57059"/>
          </a:xfrm>
          <a:prstGeom prst="rect">
            <a:avLst/>
          </a:prstGeom>
          <a:solidFill>
            <a:srgbClr val="264B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9247" y="265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Tender Hack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"/>
            <a:ext cx="51892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 заполнения характеристик СТЕ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447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64523" y="1635953"/>
            <a:ext cx="0" cy="3723162"/>
          </a:xfrm>
          <a:prstGeom prst="line">
            <a:avLst/>
          </a:prstGeom>
          <a:noFill/>
          <a:ln w="25400">
            <a:solidFill>
              <a:srgbClr val="26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8184" y="6495349"/>
            <a:ext cx="850941" cy="0"/>
          </a:xfrm>
          <a:prstGeom prst="line">
            <a:avLst/>
          </a:prstGeom>
          <a:noFill/>
          <a:ln w="12700">
            <a:solidFill>
              <a:srgbClr val="26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2147" y="6421465"/>
            <a:ext cx="147676" cy="147676"/>
          </a:xfrm>
          <a:prstGeom prst="ellipse">
            <a:avLst/>
          </a:prstGeom>
          <a:ln w="12700">
            <a:solidFill>
              <a:srgbClr val="264B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94941" y="6391656"/>
            <a:ext cx="186967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188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и роли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 с дорожками — на BPMN; приёмка изменений — через PR.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00200" y="233172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6152" y="26517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16152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Координация и интеграция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3227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Приёмка и интеграция через PR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233172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153912" y="26517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53912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Ядро КТРУ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227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Разбор, унификация, сужение кодов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00200" y="402336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6152" y="43434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16152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19456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219456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 и защита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194560" y="49194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в стиле портала, BPMN, документация, презентация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37960" y="402336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F1F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153912" y="434340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B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53912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2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[Имя] — [роль]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 и качество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9194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Тест-кейсы и метрики QA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Помощник заполнения характеристик СТЕ — Tender Hack 2026</dc:title>
  <dc:subject>PptxGenJS Presentation</dc:subject>
  <dc:creator>PptxGenJS</dc:creator>
  <cp:lastModifiedBy>PptxGenJS</cp:lastModifiedBy>
  <cp:revision>1</cp:revision>
  <dcterms:created xsi:type="dcterms:W3CDTF">2026-10-10T09:44:41Z</dcterms:created>
  <dcterms:modified xsi:type="dcterms:W3CDTF">2026-10-10T09:44:41Z</dcterms:modified>
</cp:coreProperties>
</file>