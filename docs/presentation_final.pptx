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Мы сделали помощника заполнения характеристик СТЕ. Проблема такая: поставщик описывает товар одной строкой, как привык, а порталу нужна карточка по КТРУ — правильный код и заполненные обязательные характеристики. Код КТРУ — это группа товаров, и подобрать её вручную сложно. Отсюда типичные ошибки: опечатки, неверные единицы, значения не из списка, пропуски обязательных полей. Итог — карточки отклоняются, позиции дублируются, цены сложно сравнивать.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это работает. Пользователь вводит свободный текст, например «Ключ гаечный 170 на 190 мм, длина 27 м», и нажимает «Проверить». Сервис разбирает строку на характеристики и по справочнику сужает коды КТРУ — здесь из 1514 кодов инструментов осталось 3. Дальше — карточка: код, таблица характеристик с бейджами источника, подсказки и блок «было → стало». Длина 27 метров подсвечена красным как ошибка, система предлагает 27 мм или 27 см. Любая правка сразу пересчитывает результат.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Чем мы отличаемся. Первое — никаких нейросетей: решение строится на правилах и справочнике КТРУ, поэтому система ничего не выдумывает. Второе — работает полностью офлайн: SQLite-индекс и сервис на FastAPI, без внешних API; облачные LLM ТЗ всё равно запрещает. Третье — скорость: медиана ответа меньше 0,1 секунды — 50–100 мс, пакет из 11 строк — около секунды. Четвёртое — объяснимость: у каждой характеристики бейдж источника, у каждого шага воронки — причина, у ошибки — подсказка с вариантом исправления. Пятое — порядок источников: сначала КТРУ, потом портал, и только если нигде нет — новая характеристика, на модерацию.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Процесс описан в BPMN: три дорожки — пользователь, сервис, данные. Цикл «правка — пересчёт» повторяется, пока пользователь не подтвердит карточку. Архитектура — один конвейер: parser разбирает текст, unifier нормализует названия и единицы, matcher ищет кандидатов КТРУ, engine сужает коды и проверяет значения. Индекс собирается заранее из XML КТРУ и выгрузки портала, а каждый запрос обслуживается локально.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заполняется карточка. Приоритет: если характеристика есть в спецификации кода — бейдж «КТРУ»; если нет — ищем среди характеристик портала; если и там нет — «Новая», она уходит на модерацию. Блок «Допишите» показывает, сколько осталось, и даёт допустимые значения КТРУ чипами: заполнить можно в один клик. Для массовой загрузки есть пакетная проверка: CSV со столбцом наименований, каждая строка проверяется как одиночный товар. Наш демо-файл из 11 строк — около секунды: 8 кодов определены, 2 неоднозначны, 1 не найден. Щелчок по строке открывает её в редакторе, результат выгружается в 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Качество мы мерили отдельно, эталоны зафиксированы до прогона. На основном наборе из 45 кейсов верный код КТРУ на первом месте в 44/45, в тройке — 45/45. На отложенном наборе из 45 новых позиций, под которые код не подстраивался, — 43/45 и 44/45. Ложные тревоги на чистых карточках — 1/42, и там в карточке настоящая ошибка: лобзик весом 2,1 грамма. Внесённые ошибки пойманы 30/30, но набор нам известен, так что оценка оптимистичная. Медиана ответа: основной набор 53–98 мс, отложенный 49–60 мс. Тест «сломай решение» — 28/32, без ответов 500 и ошибок JS. Источник: qa/metrics_slide.md (main 7aa9939).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Наша команда: координация и интеграция, ядро КТРУ, интерфейс и защита, тестирование и качество. Перед защитой впишем имена. А теперь — живое демо: чистый кейс, ошибка, неполное описание и пакетная проверка CSV. Спасибо!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7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7447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3" name="Shape 1"/>
          <p:cNvSpPr/>
          <p:nvPr/>
        </p:nvSpPr>
        <p:spPr>
          <a:xfrm>
            <a:off x="384505" y="33412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4" name="Shape 2"/>
          <p:cNvSpPr/>
          <p:nvPr/>
        </p:nvSpPr>
        <p:spPr>
          <a:xfrm>
            <a:off x="441655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5" name="Shape 3"/>
          <p:cNvSpPr/>
          <p:nvPr/>
        </p:nvSpPr>
        <p:spPr>
          <a:xfrm>
            <a:off x="327447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6" name="Shape 4"/>
          <p:cNvSpPr/>
          <p:nvPr/>
        </p:nvSpPr>
        <p:spPr>
          <a:xfrm>
            <a:off x="441655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59247" y="265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Tender Hack 2026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65176"/>
            <a:ext cx="51892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Помощник заполнения характеристик СТЕ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447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48184" y="6495349"/>
            <a:ext cx="850941" cy="0"/>
          </a:xfrm>
          <a:prstGeom prst="line">
            <a:avLst/>
          </a:prstGeom>
          <a:noFill/>
          <a:ln w="12700">
            <a:solidFill>
              <a:srgbClr val="264B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22147" y="6421465"/>
            <a:ext cx="147676" cy="147676"/>
          </a:xfrm>
          <a:prstGeom prst="ellipse">
            <a:avLst/>
          </a:prstGeom>
          <a:ln w="12700">
            <a:solidFill>
              <a:srgbClr val="264B8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994941" y="6391656"/>
            <a:ext cx="1869674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 / 07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" y="1188720"/>
            <a:ext cx="5577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Помощник</a:t>
            </a:r>
            <a:endParaRPr lang="en-US" sz="3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заполнения</a:t>
            </a:r>
            <a:endParaRPr lang="en-US" sz="3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характеристик СТЕ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" y="34290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B2B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Свободный текст → код КТРУ → проверенная карточка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33856" y="416052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Поставщик описывает товар одной строкой, а для СТЕ нужен код КТРУ и обязательные характеристики. Код КТРУ — это группа товаров: подобрать её и заполнить поля вручную сложно.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" y="53035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Итог: карточки отклоняются, позиции дублируются, цены сложно сравнивать.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903720" y="1325880"/>
            <a:ext cx="4526280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D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78040" y="1554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Типичные ошибки в карточке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78040" y="2011680"/>
            <a:ext cx="1920240" cy="1645920"/>
          </a:xfrm>
          <a:prstGeom prst="roundRect">
            <a:avLst>
              <a:gd name="adj" fmla="val 8000"/>
            </a:avLst>
          </a:prstGeom>
          <a:solidFill>
            <a:srgbClr val="E7EE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269480" y="23591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DB2B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Опечатки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7287768" y="283464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названиях и значениях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235440" y="2011680"/>
            <a:ext cx="1920240" cy="1645920"/>
          </a:xfrm>
          <a:prstGeom prst="roundRect">
            <a:avLst>
              <a:gd name="adj" fmla="val 8000"/>
            </a:avLst>
          </a:prstGeom>
          <a:solidFill>
            <a:srgbClr val="E7EEF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326880" y="23591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DB2B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Единицы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9345168" y="283464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неверные или несовместимые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178040" y="3840480"/>
            <a:ext cx="1920240" cy="1645920"/>
          </a:xfrm>
          <a:prstGeom prst="roundRect">
            <a:avLst>
              <a:gd name="adj" fmla="val 8000"/>
            </a:avLst>
          </a:prstGeom>
          <a:solidFill>
            <a:srgbClr val="E7EE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269480" y="41879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DB2B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Вне списка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7287768" y="466344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значения не из допустимых КТРУ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235440" y="3840480"/>
            <a:ext cx="1920240" cy="1645920"/>
          </a:xfrm>
          <a:prstGeom prst="roundRect">
            <a:avLst>
              <a:gd name="adj" fmla="val 8000"/>
            </a:avLst>
          </a:prstGeom>
          <a:solidFill>
            <a:srgbClr val="E7EE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326880" y="41879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DB2B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Пропуски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9345168" y="466344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обязательных характеристик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7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7447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3" name="Shape 1"/>
          <p:cNvSpPr/>
          <p:nvPr/>
        </p:nvSpPr>
        <p:spPr>
          <a:xfrm>
            <a:off x="384505" y="33412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4" name="Shape 2"/>
          <p:cNvSpPr/>
          <p:nvPr/>
        </p:nvSpPr>
        <p:spPr>
          <a:xfrm>
            <a:off x="441655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5" name="Shape 3"/>
          <p:cNvSpPr/>
          <p:nvPr/>
        </p:nvSpPr>
        <p:spPr>
          <a:xfrm>
            <a:off x="327447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6" name="Shape 4"/>
          <p:cNvSpPr/>
          <p:nvPr/>
        </p:nvSpPr>
        <p:spPr>
          <a:xfrm>
            <a:off x="441655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59247" y="265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Tender Hack 2026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65176"/>
            <a:ext cx="51892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Помощник заполнения характеристик СТЕ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447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64523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48184" y="6495349"/>
            <a:ext cx="850941" cy="0"/>
          </a:xfrm>
          <a:prstGeom prst="line">
            <a:avLst/>
          </a:prstGeom>
          <a:noFill/>
          <a:ln w="12700">
            <a:solidFill>
              <a:srgbClr val="264B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22147" y="6421465"/>
            <a:ext cx="147676" cy="147676"/>
          </a:xfrm>
          <a:prstGeom prst="ellipse">
            <a:avLst/>
          </a:prstGeom>
          <a:ln w="12700">
            <a:solidFill>
              <a:srgbClr val="264B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994941" y="6391656"/>
            <a:ext cx="1869674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 / 07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9144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Как работает: текст → код КТРУ → проверенная карточка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77240" y="1737360"/>
            <a:ext cx="452628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D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19202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DB2B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Ввод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22402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«Ключ гаечный 170х190 мм длина 27 м» — и кнопка «Проверить»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7240" y="3218688"/>
            <a:ext cx="452628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D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340156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DB2B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1691640" y="3401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Код КТРУ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372160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Воронка 1514 → 3: домен, наименование, ОКПД2, характеристики — с причиной на каждом шаге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77240" y="4700016"/>
            <a:ext cx="452628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D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0120" y="4882896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DB2B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1691640" y="4882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Карточка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691640" y="5202936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Таблица с бейджами источника, подсказки и «было → стало»: «27 м» подсвечено, варианты 27 мм / 27 см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532120" y="1737360"/>
            <a:ext cx="5879592" cy="42885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DEB"/>
            </a:solidFill>
            <a:prstDash val="solid"/>
          </a:ln>
        </p:spPr>
      </p:sp>
      <p:pic>
        <p:nvPicPr>
          <p:cNvPr id="28" name="Image 0" descr="/workspace/slides/tenderhack-final-uybj3a/src/screens/main_result.png">    </p:cNvPr>
          <p:cNvPicPr>
            <a:picLocks noChangeAspect="1"/>
          </p:cNvPicPr>
          <p:nvPr/>
        </p:nvPicPr>
        <p:blipFill>
          <a:blip r:embed="rId1"/>
          <a:srcRect l="0" r="0" t="0" b="57256"/>
          <a:stretch/>
        </p:blipFill>
        <p:spPr>
          <a:xfrm>
            <a:off x="5623560" y="1828800"/>
            <a:ext cx="5696712" cy="41056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7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7447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3" name="Shape 1"/>
          <p:cNvSpPr/>
          <p:nvPr/>
        </p:nvSpPr>
        <p:spPr>
          <a:xfrm>
            <a:off x="384505" y="33412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4" name="Shape 2"/>
          <p:cNvSpPr/>
          <p:nvPr/>
        </p:nvSpPr>
        <p:spPr>
          <a:xfrm>
            <a:off x="441655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5" name="Shape 3"/>
          <p:cNvSpPr/>
          <p:nvPr/>
        </p:nvSpPr>
        <p:spPr>
          <a:xfrm>
            <a:off x="327447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6" name="Shape 4"/>
          <p:cNvSpPr/>
          <p:nvPr/>
        </p:nvSpPr>
        <p:spPr>
          <a:xfrm>
            <a:off x="441655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59247" y="265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Tender Hack 2026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65176"/>
            <a:ext cx="51892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Помощник заполнения характеристик СТЕ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447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64523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48184" y="6495349"/>
            <a:ext cx="850941" cy="0"/>
          </a:xfrm>
          <a:prstGeom prst="line">
            <a:avLst/>
          </a:prstGeom>
          <a:noFill/>
          <a:ln w="12700">
            <a:solidFill>
              <a:srgbClr val="264B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22147" y="6421465"/>
            <a:ext cx="147676" cy="147676"/>
          </a:xfrm>
          <a:prstGeom prst="ellipse">
            <a:avLst/>
          </a:prstGeom>
          <a:ln w="12700">
            <a:solidFill>
              <a:srgbClr val="264B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994941" y="6391656"/>
            <a:ext cx="1869674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 / 07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9144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Чем мы отличаемся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14813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67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Пять свойств, которые видны в каждом ответе сервиса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77240" y="2057400"/>
            <a:ext cx="1984248" cy="3337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D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2286000"/>
            <a:ext cx="457200" cy="54864"/>
          </a:xfrm>
          <a:prstGeom prst="rect">
            <a:avLst/>
          </a:prstGeom>
          <a:solidFill>
            <a:srgbClr val="DB2B2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24688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DB2B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310896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Без нейросетей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374904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Правила и справочник КТРУ: детерминированно, ничего не выдумывает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35224" y="2057400"/>
            <a:ext cx="1984248" cy="3337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D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18104" y="2286000"/>
            <a:ext cx="457200" cy="54864"/>
          </a:xfrm>
          <a:prstGeom prst="rect">
            <a:avLst/>
          </a:prstGeom>
          <a:solidFill>
            <a:srgbClr val="DB2B2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118104" y="24688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DB2B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3118104" y="310896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Полностью офлайн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3118104" y="374904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SQLite-индекс и FastAPI на одной машине — без интернета и внешних API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93208" y="2057400"/>
            <a:ext cx="1984248" cy="3337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D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76088" y="2286000"/>
            <a:ext cx="457200" cy="54864"/>
          </a:xfrm>
          <a:prstGeom prst="rect">
            <a:avLst/>
          </a:prstGeom>
          <a:solidFill>
            <a:srgbClr val="DB2B2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276088" y="24688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DB2B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5276088" y="310896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Медиана &lt; 0,1 с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276088" y="374904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Медиана 50–100 мс на запрос; пакет из 11 строк — ≈1 с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251192" y="2057400"/>
            <a:ext cx="1984248" cy="3337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D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34072" y="2286000"/>
            <a:ext cx="457200" cy="54864"/>
          </a:xfrm>
          <a:prstGeom prst="rect">
            <a:avLst/>
          </a:prstGeom>
          <a:solidFill>
            <a:srgbClr val="DB2B2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434072" y="24688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DB2B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3000" dirty="0"/>
          </a:p>
        </p:txBody>
      </p:sp>
      <p:sp>
        <p:nvSpPr>
          <p:cNvPr id="34" name="Text 32"/>
          <p:cNvSpPr txBox="1"/>
          <p:nvPr/>
        </p:nvSpPr>
        <p:spPr>
          <a:xfrm>
            <a:off x="7434072" y="310896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Объяснимость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434072" y="374904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Бейдж источника у каждой характеристики, причина на каждом шаге воронки, подсказки «было → стало»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409176" y="2057400"/>
            <a:ext cx="1984248" cy="3337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D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92056" y="2286000"/>
            <a:ext cx="457200" cy="54864"/>
          </a:xfrm>
          <a:prstGeom prst="rect">
            <a:avLst/>
          </a:prstGeom>
          <a:solidFill>
            <a:srgbClr val="DB2B2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592056" y="24688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DB2B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</a:t>
            </a:r>
            <a:endParaRPr lang="en-US" sz="3000" dirty="0"/>
          </a:p>
        </p:txBody>
      </p:sp>
      <p:sp>
        <p:nvSpPr>
          <p:cNvPr id="39" name="Text 37"/>
          <p:cNvSpPr txBox="1"/>
          <p:nvPr/>
        </p:nvSpPr>
        <p:spPr>
          <a:xfrm>
            <a:off x="9592056" y="310896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КТРУ → портал → NEW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9592056" y="374904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Сначала спецификация кода КТРУ, затем характеристики портала; новая — только на модерацию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77240" y="5596128"/>
            <a:ext cx="10634472" cy="475488"/>
          </a:xfrm>
          <a:prstGeom prst="roundRect">
            <a:avLst>
              <a:gd name="adj" fmla="val 30000"/>
            </a:avLst>
          </a:prstGeom>
          <a:solidFill>
            <a:srgbClr val="264B8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60120" y="5596128"/>
            <a:ext cx="10268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ТЗ запрещает облачные LLM API — а нашей задаче они и не нужны: это сопоставление с закрытым справочником.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7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7447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3" name="Shape 1"/>
          <p:cNvSpPr/>
          <p:nvPr/>
        </p:nvSpPr>
        <p:spPr>
          <a:xfrm>
            <a:off x="384505" y="33412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4" name="Shape 2"/>
          <p:cNvSpPr/>
          <p:nvPr/>
        </p:nvSpPr>
        <p:spPr>
          <a:xfrm>
            <a:off x="441655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5" name="Shape 3"/>
          <p:cNvSpPr/>
          <p:nvPr/>
        </p:nvSpPr>
        <p:spPr>
          <a:xfrm>
            <a:off x="327447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6" name="Shape 4"/>
          <p:cNvSpPr/>
          <p:nvPr/>
        </p:nvSpPr>
        <p:spPr>
          <a:xfrm>
            <a:off x="441655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59247" y="265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Tender Hack 2026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65176"/>
            <a:ext cx="51892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Помощник заполнения характеристик СТЕ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447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64523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48184" y="6495349"/>
            <a:ext cx="850941" cy="0"/>
          </a:xfrm>
          <a:prstGeom prst="line">
            <a:avLst/>
          </a:prstGeom>
          <a:noFill/>
          <a:ln w="12700">
            <a:solidFill>
              <a:srgbClr val="264B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22147" y="6421465"/>
            <a:ext cx="147676" cy="147676"/>
          </a:xfrm>
          <a:prstGeom prst="ellipse">
            <a:avLst/>
          </a:prstGeom>
          <a:ln w="12700">
            <a:solidFill>
              <a:srgbClr val="264B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994941" y="6391656"/>
            <a:ext cx="1869674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 / 07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9144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Процесс и архитектура: один локальный конвейер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77240" y="1691640"/>
            <a:ext cx="5212080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D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1828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Процесс (BPMN): «правка → пересчёт» до подтверждения</a:t>
            </a:r>
            <a:endParaRPr lang="en-US" sz="1300" dirty="0"/>
          </a:p>
        </p:txBody>
      </p:sp>
      <p:pic>
        <p:nvPicPr>
          <p:cNvPr id="17" name="Image 0" descr="/workspace/slides/tenderhack-final-uybj3a/src/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10027"/>
            <a:ext cx="4846320" cy="177510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60120" y="49377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125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Дорожки: Пользователь / Сервис / Данные</a:t>
            </a:r>
            <a:endParaRPr lang="en-US" sz="1250" dirty="0"/>
          </a:p>
          <a:p>
            <a:pPr indent="0" marL="0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125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Исходник docs/process.bpmn — Camunda Modeler, bpmn.io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199632" y="1691640"/>
            <a:ext cx="5212080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DE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82512" y="1828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Компоненты: parser → unifier → matcher → engine</a:t>
            </a:r>
            <a:endParaRPr lang="en-US" sz="1300" dirty="0"/>
          </a:p>
        </p:txBody>
      </p:sp>
      <p:pic>
        <p:nvPicPr>
          <p:cNvPr id="21" name="Image 1" descr="/workspace/slides/tenderhack-final-uybj3a/src/compon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2304640"/>
            <a:ext cx="4846320" cy="2385881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382512" y="49377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125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SQLite-индекс собирается заранее из XML КТРУ и XLSX портала</a:t>
            </a:r>
            <a:endParaRPr lang="en-US" sz="1250" dirty="0"/>
          </a:p>
          <a:p>
            <a:pPr indent="0" marL="0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125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POST /api/analyze — ответ без внешних сервисов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7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7447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3" name="Shape 1"/>
          <p:cNvSpPr/>
          <p:nvPr/>
        </p:nvSpPr>
        <p:spPr>
          <a:xfrm>
            <a:off x="384505" y="33412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4" name="Shape 2"/>
          <p:cNvSpPr/>
          <p:nvPr/>
        </p:nvSpPr>
        <p:spPr>
          <a:xfrm>
            <a:off x="441655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5" name="Shape 3"/>
          <p:cNvSpPr/>
          <p:nvPr/>
        </p:nvSpPr>
        <p:spPr>
          <a:xfrm>
            <a:off x="327447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6" name="Shape 4"/>
          <p:cNvSpPr/>
          <p:nvPr/>
        </p:nvSpPr>
        <p:spPr>
          <a:xfrm>
            <a:off x="441655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59247" y="265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Tender Hack 2026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65176"/>
            <a:ext cx="51892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Помощник заполнения характеристик СТЕ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447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64523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48184" y="6495349"/>
            <a:ext cx="850941" cy="0"/>
          </a:xfrm>
          <a:prstGeom prst="line">
            <a:avLst/>
          </a:prstGeom>
          <a:noFill/>
          <a:ln w="12700">
            <a:solidFill>
              <a:srgbClr val="264B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22147" y="6421465"/>
            <a:ext cx="147676" cy="147676"/>
          </a:xfrm>
          <a:prstGeom prst="ellipse">
            <a:avLst/>
          </a:prstGeom>
          <a:ln w="12700">
            <a:solidFill>
              <a:srgbClr val="264B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994941" y="6391656"/>
            <a:ext cx="1869674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 / 07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9144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Дописать в один клик — и проверить пачкой из CSV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77240" y="1691640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D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18013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Приоритет источников характеристик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60120" y="221284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264B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221284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КТРУ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26060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67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спецификация кода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194560" y="21579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B2B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2651760" y="221284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1F8A8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651760" y="221284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Портал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560320" y="26060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67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карточки портала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886200" y="21579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B2B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343400" y="221284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07D1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343400" y="221284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Новая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251960" y="26060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67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 модерацию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77240" y="3246120"/>
            <a:ext cx="5257800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D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0120" y="33558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Блок «Допишите»: допустимые значения КТРУ — чипы</a:t>
            </a:r>
            <a:endParaRPr lang="en-US" sz="1300" dirty="0"/>
          </a:p>
        </p:txBody>
      </p:sp>
      <p:pic>
        <p:nvPicPr>
          <p:cNvPr id="30" name="Image 0" descr="/workspace/slides/tenderhack-final-uybj3a/src/screens/fill_b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2302" y="3721608"/>
            <a:ext cx="3927675" cy="2176272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6245352" y="1691640"/>
            <a:ext cx="5166360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DE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428232" y="18013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Пакетная проверка (CSV): 11 строк ≈ 1 с</a:t>
            </a:r>
            <a:endParaRPr lang="en-US" sz="1300" dirty="0"/>
          </a:p>
        </p:txBody>
      </p:sp>
      <p:pic>
        <p:nvPicPr>
          <p:cNvPr id="33" name="Image 1" descr="/workspace/slides/tenderhack-final-uybj3a/src/screens/batch_view.png">    </p:cNvPr>
          <p:cNvPicPr>
            <a:picLocks noChangeAspect="1"/>
          </p:cNvPicPr>
          <p:nvPr/>
        </p:nvPicPr>
        <p:blipFill>
          <a:blip r:embed="rId2"/>
          <a:srcRect l="0" r="0" t="24318" b="14033"/>
          <a:stretch/>
        </p:blipFill>
        <p:spPr>
          <a:xfrm>
            <a:off x="6428232" y="2194560"/>
            <a:ext cx="4800600" cy="2788920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6428232" y="50749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Код: </a:t>
            </a: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 определён · 2 неоднозначно · 1 не найден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Карточка: </a:t>
            </a: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заполнена · 6 неполная · 1 с ошибками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67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Щелчок по строке — открыть в редакторе; выгрузка в CSV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7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7447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3" name="Shape 1"/>
          <p:cNvSpPr/>
          <p:nvPr/>
        </p:nvSpPr>
        <p:spPr>
          <a:xfrm>
            <a:off x="384505" y="33412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4" name="Shape 2"/>
          <p:cNvSpPr/>
          <p:nvPr/>
        </p:nvSpPr>
        <p:spPr>
          <a:xfrm>
            <a:off x="441655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5" name="Shape 3"/>
          <p:cNvSpPr/>
          <p:nvPr/>
        </p:nvSpPr>
        <p:spPr>
          <a:xfrm>
            <a:off x="327447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6" name="Shape 4"/>
          <p:cNvSpPr/>
          <p:nvPr/>
        </p:nvSpPr>
        <p:spPr>
          <a:xfrm>
            <a:off x="441655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59247" y="265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Tender Hack 2026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65176"/>
            <a:ext cx="51892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Помощник заполнения характеристик СТЕ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447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64523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48184" y="6495349"/>
            <a:ext cx="850941" cy="0"/>
          </a:xfrm>
          <a:prstGeom prst="line">
            <a:avLst/>
          </a:prstGeom>
          <a:noFill/>
          <a:ln w="12700">
            <a:solidFill>
              <a:srgbClr val="264B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22147" y="6421465"/>
            <a:ext cx="147676" cy="147676"/>
          </a:xfrm>
          <a:prstGeom prst="ellipse">
            <a:avLst/>
          </a:prstGeom>
          <a:ln w="12700">
            <a:solidFill>
              <a:srgbClr val="264B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994941" y="6391656"/>
            <a:ext cx="1869674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06 / 07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9144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Код КТРУ первым: 44/45, на новых позициях — 43/45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14630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67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Эталоны зафиксированы до прогона · два набора по 45 позиций · источник: qa/metrics_slide.md (main 7aa9939)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" y="2011680"/>
            <a:ext cx="342900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D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221284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DB2B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44/45 · 43/45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28529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Код на 1-м месте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17296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основной / отложенный: 98% / 96%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79976" y="2011680"/>
            <a:ext cx="342900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D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08576" y="221284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DB2B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45/45 · 44/45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4608576" y="28529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Код в топ-3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608576" y="317296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основной / отложенный: 100% / 98%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82712" y="2011680"/>
            <a:ext cx="342900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D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11312" y="221284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DB2B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1/42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8211312" y="28529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Ложные тревоги (строго)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211312" y="317296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H31 — в карточке реальная ошибка: лобзик 2,1 г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77240" y="3950208"/>
            <a:ext cx="342900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D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05840" y="415137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DB2B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30/30*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" y="479145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Внесённые ошибки пойманы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" y="511149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единицы 8/8, числа 8/8, несуществующие 7/7, опечатки 7/7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379976" y="3950208"/>
            <a:ext cx="342900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D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608576" y="415137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DB2B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медиана &lt; 0,1 с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4608576" y="479145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Время ответа, p50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4608576" y="511149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основной 53–98 мс, отложенный 49–60 мс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982712" y="3950208"/>
            <a:ext cx="342900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DE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11312" y="415137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DB2B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28/32</a:t>
            </a:r>
            <a:endParaRPr lang="en-US" sz="3000" dirty="0"/>
          </a:p>
        </p:txBody>
      </p:sp>
      <p:sp>
        <p:nvSpPr>
          <p:cNvPr id="38" name="Text 36"/>
          <p:cNvSpPr txBox="1"/>
          <p:nvPr/>
        </p:nvSpPr>
        <p:spPr>
          <a:xfrm>
            <a:off x="8211312" y="479145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«Сломай решение»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8211312" y="511149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88%: 0 ответов 500, 0 ошибок JS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777240" y="59436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67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 оценка оптимистичная, набор известен разработчикам. Статус верный: 45/45 и 43/45; мягкие предупреждения на чистых — 3/42.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7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7447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3" name="Shape 1"/>
          <p:cNvSpPr/>
          <p:nvPr/>
        </p:nvSpPr>
        <p:spPr>
          <a:xfrm>
            <a:off x="384505" y="33412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4" name="Shape 2"/>
          <p:cNvSpPr/>
          <p:nvPr/>
        </p:nvSpPr>
        <p:spPr>
          <a:xfrm>
            <a:off x="441655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5" name="Shape 3"/>
          <p:cNvSpPr/>
          <p:nvPr/>
        </p:nvSpPr>
        <p:spPr>
          <a:xfrm>
            <a:off x="327447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6" name="Shape 4"/>
          <p:cNvSpPr/>
          <p:nvPr/>
        </p:nvSpPr>
        <p:spPr>
          <a:xfrm>
            <a:off x="441655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59247" y="265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Tender Hack 2026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65176"/>
            <a:ext cx="51892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Помощник заполнения характеристик СТЕ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447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64523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48184" y="6495349"/>
            <a:ext cx="850941" cy="0"/>
          </a:xfrm>
          <a:prstGeom prst="line">
            <a:avLst/>
          </a:prstGeom>
          <a:noFill/>
          <a:ln w="12700">
            <a:solidFill>
              <a:srgbClr val="264B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22147" y="6421465"/>
            <a:ext cx="147676" cy="147676"/>
          </a:xfrm>
          <a:prstGeom prst="ellipse">
            <a:avLst/>
          </a:prstGeom>
          <a:ln w="12700">
            <a:solidFill>
              <a:srgbClr val="264B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994941" y="6391656"/>
            <a:ext cx="1869674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07 / 07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1188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Команда и роли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1280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67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Дальше — живое демо: чистый кейс, ошибка, неполное описание и пакет CSV.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600200" y="2331720"/>
            <a:ext cx="443484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216152" y="2651760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64B8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16152" y="2651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19456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[Имя] — [роль]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2194560" y="2898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B2B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Координация и интеграция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194560" y="32278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Приёмка и интеграция через PR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37960" y="2331720"/>
            <a:ext cx="443484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153912" y="2651760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64B8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53912" y="2651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[Имя] — [роль]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2898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B2B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Ядро КТРУ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32278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Разбор, унификация, сужение кодов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600200" y="4023360"/>
            <a:ext cx="443484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1216152" y="4343400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64B8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216152" y="4343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219456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[Имя] — [роль]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2194560" y="4590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B2B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Интерфейс и защита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2194560" y="49194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UI в стиле портала, BPMN, документация, презентация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537960" y="4023360"/>
            <a:ext cx="443484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6153912" y="4343400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64B8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153912" y="4343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713232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[Имя] — [роль]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7132320" y="4590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B2B2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Тестирование и качество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7132320" y="49194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Тест-кейсы и метрики QA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Ope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Помощник заполнения характеристик СТЕ — предзащита, Tender Hack 2026</dc:title>
  <dc:subject>PptxGenJS Presentation</dc:subject>
  <dc:creator>PptxGenJS</dc:creator>
  <cp:lastModifiedBy>PptxGenJS</cp:lastModifiedBy>
  <cp:revision>1</cp:revision>
  <dcterms:created xsi:type="dcterms:W3CDTF">2026-10-10T17:33:47Z</dcterms:created>
  <dcterms:modified xsi:type="dcterms:W3CDTF">2026-10-10T17:33:47Z</dcterms:modified>
</cp:coreProperties>
</file>