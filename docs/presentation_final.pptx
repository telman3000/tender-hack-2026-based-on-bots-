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помощника заполнения характеристик СТЕ. Проблема такая: поставщик описывает товар одной строкой, как привык, а порталу нужна карточка по КТРУ — правильный код и заполненные обязательные характеристики. Код КТРУ — это группа товаров, и подобрать её вручную сложно. Отсюда типичные ошибки: опечатки, неверные единицы, значения не из списка, пропуски обязательных полей. Итог — карточки отклоняются, позиции дублируются, цены сложно сравнивать.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работает. Пользователь вводит свободный текст, например «Ключ гаечный 170 на 190 мм, длина 27 м», и нажимает «Проверить». Сервис разбирает строку на характеристики и по справочнику сужает коды КТРУ — здесь из 1309 кодов инструментов осталось 3. Дальше — карточка: код, таблица характеристик с бейджами источника, подсказки и блок «было → стало». Длина 27 метров подсвечена красным как ошибка, система предлагает 27 мм или 27 см. Любая правка сразу пересчитывает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Первое — никаких нейросетей: решение строится на правилах и справочнике КТРУ, поэтому система ничего не выдумывает. Второе — работает полностью офлайн: SQLite-индекс и сервис на FastAPI, без внешних API; облачные LLM ТЗ всё равно запрещает. Третье — скорость: медиана ответа меньше 0,1 секунды — 50–100 мс, пакет из 13 строк — около 0,5 секунды. Четвёртое — объяснимость: у каждой характеристики бейдж источника, у каждого шага воронки — причина, у ошибки — подсказка с вариантом исправления. Пятое — порядок источников: сначала КТРУ, потом портал, и только если нигде нет — новая характеристика, на модерацию.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описан в BPMN: три дорожки — пользователь, сервис, данные. Цикл «правка — пересчёт» повторяется, пока пользователь не подтвердит карточку. Архитектура — один конвейер: parser разбирает текст, unifier нормализует названия и единицы, matcher ищет кандидатов КТРУ, engine сужает коды и проверяет значения. Индекс собирается заранее из XML КТРУ и выгрузки портала, а каждый запрос обслуживается локально.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заполняется карточка. Приоритет: если характеристика есть в спецификации кода — бейдж «КТРУ»; если нет — ищем среди характеристик портала; если и там нет — «Новая», она уходит на модерацию. Блок «Допишите» показывает, сколько осталось, и даёт допустимые значения КТРУ чипами: заполнить можно в один клик. Для массовой загрузки есть пакетная проверка: CSV со столбцом наименований, каждая строка проверяется как одиночный товар. Наш демо-файл из 13 строк — около 0,5 секунды: 9 кодов определены, 2 неоднозначны, 2 строки — не наша категория. Щелчок по строке открывает её в редакторе, результат выгружается в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мы мерили отдельно, эталоны зафиксированы до прогона. На основном наборе из 45 кейсов верный код КТРУ на первом месте в 44/45, в тройке — 45/45. На отложенном наборе из 45 новых позиций, под которые код не подстраивался, — 43/45 и 44/45. Ложные тревоги на чистых карточках — 1/42, и там в карточке настоящая ошибка: лобзик весом 2,1 грамма. Внесённые ошибки пойманы 30/30, но набор нам известен, так что оценка оптимистичная. Медиана ответа: основной набор 53–98 мс, отложенный 49–60 мс. Тест «сломай решение» — 32/32, без ответов 500 и ошибок JS. Источник: qa/metrics_slide.md.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команда: координация и интеграция, ядро КТРУ, интерфейс и защита, тестирование и качество. Перед защитой впишем имена. А теперь — живое демо: чистый кейс, ошибка, неполное описание и пакетная проверка CSV. Спасибо!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 / 07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11887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заполнения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характеристик СТЕ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429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Свободный текст → код КТРУ → проверенная карточка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16052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Поставщик описывает товар одной строкой, а для СТЕ нужен код КТРУ и обязательные характеристики. Код КТРУ — это группа товаров: подобрать её и заполнить поля вручную сложно.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Итог: карточки отклоняются, позиции дублируются, цены сложно сравнивать.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03720" y="1325880"/>
            <a:ext cx="45262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804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Типичные ошибки в карточке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Опечатки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2877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названиях и значениях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235440" y="20116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2359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28346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неверные или несовместимые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1780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2694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 списка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2877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значения не из допустимых КТРУ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235440" y="3840480"/>
            <a:ext cx="1920240" cy="1645920"/>
          </a:xfrm>
          <a:prstGeom prst="roundRect">
            <a:avLst>
              <a:gd name="adj" fmla="val 8000"/>
            </a:avLst>
          </a:prstGeom>
          <a:solidFill>
            <a:srgbClr val="E7EE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26880" y="41879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Пропуски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9345168" y="466344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обязательных характеристик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Как работает: текст → код КТРУ → проверенная карточка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737360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Ввод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240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«Ключ гаечный 170х190 мм длина 27 м» — и кнопка «Проверить»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3218688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401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401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7216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Воронка 1309 → 3: домен, наименование, ОКПД2, характеристики — с причиной на каждом шаге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4700016"/>
            <a:ext cx="452628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828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4882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52029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Таблица с бейджами источника, подсказки и «было → стало»: «27 м» подсвечено, варианты 27 мм / 27 см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532120" y="1737360"/>
            <a:ext cx="5879592" cy="4288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pic>
        <p:nvPicPr>
          <p:cNvPr id="28" name="Image 0" descr="/workspace/slides/tenderhack-final-uybj3a/src/screens/main_result.png">    </p:cNvPr>
          <p:cNvPicPr>
            <a:picLocks noChangeAspect="1"/>
          </p:cNvPicPr>
          <p:nvPr/>
        </p:nvPicPr>
        <p:blipFill>
          <a:blip r:embed="rId1"/>
          <a:srcRect l="0" r="0" t="0" b="77467"/>
          <a:stretch/>
        </p:blipFill>
        <p:spPr>
          <a:xfrm>
            <a:off x="5623560" y="1828800"/>
            <a:ext cx="5696712" cy="2359152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23560" y="4251960"/>
            <a:ext cx="5696712" cy="0"/>
          </a:xfrm>
          <a:prstGeom prst="line">
            <a:avLst/>
          </a:prstGeom>
          <a:noFill/>
          <a:ln w="12700">
            <a:solidFill>
              <a:srgbClr val="C5D3E6"/>
            </a:solidFill>
            <a:prstDash val="solid"/>
          </a:ln>
        </p:spPr>
      </p:sp>
      <p:pic>
        <p:nvPicPr>
          <p:cNvPr id="30" name="Image 1" descr="/workspace/slides/tenderhack-final-uybj3a/src/screens/main_result.png">    </p:cNvPr>
          <p:cNvPicPr>
            <a:picLocks noChangeAspect="1"/>
          </p:cNvPicPr>
          <p:nvPr/>
        </p:nvPicPr>
        <p:blipFill>
          <a:blip r:embed="rId2"/>
          <a:srcRect l="36491" r="5965" t="67774" b="23180"/>
          <a:stretch/>
        </p:blipFill>
        <p:spPr>
          <a:xfrm>
            <a:off x="5623560" y="4315968"/>
            <a:ext cx="56967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мы отличаемся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Пять свойств, которые видны в каждом ответе сервиса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нейросетей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Правила и справочник КТРУ: детерминированно, ничего не выдумывает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35224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18104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18104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3118104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Полностью офлайн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118104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SQLite-индекс и FastAPI на одной машине — без интернета и внешних API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93208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276088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276088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50–100 мс на запрос; пакет из 13 строк — ~0,5 с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251192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4072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34072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7434072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Объяснимость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Бейдж источника у каждой характеристики, причина на каждом шаге воронки, подсказки «было → стало»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409176" y="2057400"/>
            <a:ext cx="1984248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92056" y="2286000"/>
            <a:ext cx="457200" cy="54864"/>
          </a:xfrm>
          <a:prstGeom prst="rect">
            <a:avLst/>
          </a:prstGeom>
          <a:solidFill>
            <a:srgbClr val="DB2B2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59205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9592056" y="310896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 → портал → NEW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592056" y="3749040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Сначала спецификация кода КТРУ, затем характеристики портала; новая — только на модерацию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7240" y="5596128"/>
            <a:ext cx="10634472" cy="475488"/>
          </a:xfrm>
          <a:prstGeom prst="roundRect">
            <a:avLst>
              <a:gd name="adj" fmla="val 30000"/>
            </a:avLst>
          </a:prstGeom>
          <a:solidFill>
            <a:srgbClr val="264B8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0120" y="5596128"/>
            <a:ext cx="10268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ТЗ запрещает облачные LLM API — а нашей задаче они и не нужны: это сопоставление с закрытым справочником.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и архитектура: один локальный конвейер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Процесс (BPMN): «правка → пересчёт» до подтверждения</a:t>
            </a:r>
            <a:endParaRPr lang="en-US" sz="1300" dirty="0"/>
          </a:p>
        </p:txBody>
      </p:sp>
      <p:pic>
        <p:nvPicPr>
          <p:cNvPr id="17" name="Image 0" descr="/workspace/slides/tenderhack-final-uybj3a/src/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10027"/>
            <a:ext cx="4846320" cy="177510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Дорожки: Пользователь / Сервис / Данные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Исходник docs/process.bpmn — Camunda Modeler, bpmn.io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99632" y="1691640"/>
            <a:ext cx="52120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82512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Компоненты: parser → unifier → matcher → engine</a:t>
            </a:r>
            <a:endParaRPr lang="en-US" sz="1300" dirty="0"/>
          </a:p>
        </p:txBody>
      </p:sp>
      <p:pic>
        <p:nvPicPr>
          <p:cNvPr id="21" name="Image 1" descr="/workspace/slides/tenderhack-final-uybj3a/src/compon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304640"/>
            <a:ext cx="4846320" cy="238588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382512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SQLite-индекс собирается заранее из XML КТРУ и XLSX портала</a:t>
            </a:r>
            <a:endParaRPr lang="en-US" sz="1250" dirty="0"/>
          </a:p>
          <a:p>
            <a:pPr indent="0" marL="0">
              <a:lnSpc>
                <a:spcPct val="115000"/>
              </a:lnSpc>
              <a:spcBef>
                <a:spcPts val="400"/>
              </a:spcBef>
              <a:buNone/>
            </a:pPr>
            <a:r>
              <a:rPr lang="en-US" sz="125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POST /api/analyze — ответ без внешних сервисов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Дописать в один клик — и проверить пачкой из CSV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77240" y="169164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Приоритет источников характеристик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6012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64B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КТРУ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спецификация кода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265176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F8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5176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Портал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карточки портала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2157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343400" y="221284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07D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3400" y="22128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Новая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2606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 модерацию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3246120"/>
            <a:ext cx="52578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3558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Блок «Допишите»: допустимые значения КТРУ — чипы</a:t>
            </a:r>
            <a:endParaRPr lang="en-US" sz="1300" dirty="0"/>
          </a:p>
        </p:txBody>
      </p:sp>
      <p:pic>
        <p:nvPicPr>
          <p:cNvPr id="30" name="Image 0" descr="/workspace/slides/tenderhack-final-uybj3a/src/screens/fill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98" y="3721608"/>
            <a:ext cx="4138484" cy="217627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245352" y="1691640"/>
            <a:ext cx="516636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1801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Пакетная проверка (CSV): 13 строк за ~0,5 с</a:t>
            </a:r>
            <a:endParaRPr lang="en-US" sz="1300" dirty="0"/>
          </a:p>
        </p:txBody>
      </p:sp>
      <p:pic>
        <p:nvPicPr>
          <p:cNvPr id="33" name="Image 1" descr="/workspace/slides/tenderhack-final-uybj3a/src/screens/batch_view.png">    </p:cNvPr>
          <p:cNvPicPr>
            <a:picLocks noChangeAspect="1"/>
          </p:cNvPicPr>
          <p:nvPr/>
        </p:nvPicPr>
        <p:blipFill>
          <a:blip r:embed="rId2"/>
          <a:srcRect l="0" r="0" t="27915" b="22063"/>
          <a:stretch/>
        </p:blipFill>
        <p:spPr>
          <a:xfrm>
            <a:off x="6428232" y="2194560"/>
            <a:ext cx="4800600" cy="2788920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6428232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определён · 2 неоднозначно · 2 не наша категория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Карточка: </a:t>
            </a: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заполнена · 8 неполная · 1 с ошибками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Щелчок по строке — открыть в редакторе; выгрузка в CSV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914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КТРУ первым: 44/45, на новых позициях — 43/45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1463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Цифры на текущей версии · Версия: main ab39ee1 · эталоны зафиксированы до прогона · qa/metrics_slide.md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44/45 · 43/45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на 1-м месте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98% / 96%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9976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8576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45/45 · 44/45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608576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в топ-3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/ отложенный: 100% / 98%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82712" y="2011680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221284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1/42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Ложные тревоги (строго)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317296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H31 — в карточке реальная ошибка: лобзик 2,1 г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30/30*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Внесённые ошибки пойманы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единицы 8/8, числа 8/8, несуществующие 7/7, опечатки 7/7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79976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медиана &lt; 0,1 с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Время ответа, p50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основной 53–98 мс, отложенный 49–60 мс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82712" y="3950208"/>
            <a:ext cx="34290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DD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11312" y="415137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32/32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11312" y="479145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«Сломай решение»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5111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100%: 0 ответов 500, 0 ошибок JS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оценка оптимистичная, набор известен разработчикам. Статус верный: 45/45 и 43/45; мягкие предупреждения на чистых — 4/42.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7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447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3" name="Shape 1"/>
          <p:cNvSpPr/>
          <p:nvPr/>
        </p:nvSpPr>
        <p:spPr>
          <a:xfrm>
            <a:off x="384505" y="33412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4" name="Shape 2"/>
          <p:cNvSpPr/>
          <p:nvPr/>
        </p:nvSpPr>
        <p:spPr>
          <a:xfrm>
            <a:off x="441655" y="277063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5" name="Shape 3"/>
          <p:cNvSpPr/>
          <p:nvPr/>
        </p:nvSpPr>
        <p:spPr>
          <a:xfrm>
            <a:off x="327447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6" name="Shape 4"/>
          <p:cNvSpPr/>
          <p:nvPr/>
        </p:nvSpPr>
        <p:spPr>
          <a:xfrm>
            <a:off x="441655" y="391272"/>
            <a:ext cx="57059" cy="57059"/>
          </a:xfrm>
          <a:prstGeom prst="rect">
            <a:avLst/>
          </a:prstGeom>
          <a:solidFill>
            <a:srgbClr val="264B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59247" y="265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Tender Hack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5176"/>
            <a:ext cx="51892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Помощник заполнения характеристик СТЕ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447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64523" y="1635953"/>
            <a:ext cx="0" cy="3723162"/>
          </a:xfrm>
          <a:prstGeom prst="line">
            <a:avLst/>
          </a:prstGeom>
          <a:noFill/>
          <a:ln w="25400">
            <a:solidFill>
              <a:srgbClr val="264B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8184" y="6495349"/>
            <a:ext cx="850941" cy="0"/>
          </a:xfrm>
          <a:prstGeom prst="line">
            <a:avLst/>
          </a:prstGeom>
          <a:noFill/>
          <a:ln w="12700">
            <a:solidFill>
              <a:srgbClr val="264B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22147" y="6421465"/>
            <a:ext cx="147676" cy="147676"/>
          </a:xfrm>
          <a:prstGeom prst="ellipse">
            <a:avLst/>
          </a:prstGeom>
          <a:ln w="12700">
            <a:solidFill>
              <a:srgbClr val="264B8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94941" y="6391656"/>
            <a:ext cx="186967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07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188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и роли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6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Дальше — живое демо: чистый кейс, ошибка, неполное описание и пакет CSV.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0020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21615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1615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Координация и интеграция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Приёмка и интеграция через PR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33172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153912" y="265176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651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898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Ядро КТРУ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0" y="32278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Разбор, унификация, сужение кодов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60020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615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1615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19456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Интерфейс и защита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19456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UI в стиле портала, BPMN, документация, презентация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4023360"/>
            <a:ext cx="44348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3912" y="4343400"/>
            <a:ext cx="77724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64B8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53912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4B8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[Имя] — [роль]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590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B2B2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Тестирование и качество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Тест-кейсы и метрики 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pe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заполнения характеристик СТЕ — предзащита, Tender Hack 2026</dc:title>
  <dc:subject>PptxGenJS Presentation</dc:subject>
  <dc:creator>PptxGenJS</dc:creator>
  <cp:lastModifiedBy>PptxGenJS</cp:lastModifiedBy>
  <cp:revision>1</cp:revision>
  <dcterms:created xsi:type="dcterms:W3CDTF">2026-10-10T18:29:31Z</dcterms:created>
  <dcterms:modified xsi:type="dcterms:W3CDTF">2026-10-10T18:29:31Z</dcterms:modified>
</cp:coreProperties>
</file>